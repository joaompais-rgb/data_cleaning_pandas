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63" r:id="rId5"/>
    <p:sldId id="264" r:id="rId6"/>
    <p:sldId id="265" r:id="rId7"/>
    <p:sldId id="267" r:id="rId8"/>
    <p:sldId id="266" r:id="rId9"/>
    <p:sldId id="273" r:id="rId10"/>
    <p:sldId id="268" r:id="rId11"/>
    <p:sldId id="269" r:id="rId12"/>
    <p:sldId id="270" r:id="rId13"/>
    <p:sldId id="271" r:id="rId14"/>
    <p:sldId id="272"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2178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segundos. Abrir por el cliente, no por los tiburones: "una escuela de surf quiere abrir un destino nuevo y nos pide que le digamos dónde no y dónde sí". La bandera morada de la esquina es vocabulario real de playa y significa fauna marina peligrosa: si alguien pregunta, esa es la respuesta, y vuelve a aparecer al final.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segundos. Lo que tiene que quedar es que hay dinero detrás de la decisión, no un ejercicio de clase. Decir en voz alta: presupuesto para un destino, y no puede equivocarse. Las cinco preguntas son el índice de todo lo que viene después.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segundos. No leer la tabla: señalar que la columna de la derecha es el trabajo, porque casi ninguna variable venía usable. Y decir los tres porcentajes de vacíos en voz alta, porque condicionan lo que podremos afirmar después.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segundos. De 7.125 a 5.303 se van 8 duplicados y 1.814 registros anteriores a 1950 o sin año. De ahí al bloque más reciente quedan 2.683, y 942 son ataques no provocados a surfistas. Decir en voz alta que 942 casos dan para comparar destinos, pero que cada porcentaje irá siempre con su número de casos al lado: se gana credibilidad adelantándose.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segundos, y es vuestro hallazgo más original. De 22,0% a 9,4%: la mortalidad de los ataques registrados bajó a menos de la mitad entre el primer bloque y el último. Decir que la mayoría de los grupos solo mirará los últimos años y por eso no va a poder contar esto. Y ser explícitos sobre el gráfico que decidimos NO enseñar, el del número de ataques por bloque: esa decisión vale tanto como el gráfico que sí enseñamos. Esta caída vuelve en la diapositiva del surf frente a otras actividades como argumento para padres y alumnos.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segundos. Un tercio de todos los ataques a surfistas registrados en el mundo desde 1950 ocurrieron en un solo estado. New Smyrna Beach y Brasil se comparan con todos los tipos de ataque, que es como salen en el notebook: aun así, una playa pesa más que un país entero. La frase del final es la que hay que decir en voz alta, porque justifica todo el trabajo de limpieza de location. La caja de abajo son buenas prácticas del sector, no un hallazgo del archivo: el archivo dice dónde y cuándo, no qué protocolo funciona. Si la mortalidad bajó con el rescate y la medicina, la respuesta rápida es donde la escuela puede actuar.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segundos. Primero el mapa de calor: cada fila suma 100 y el número entre paréntesis es la base. Florida, 41% en otoño sobre 492 casos; California, 46% en otoño; Carolina del Sur, 75% en verano, pero sobre solo 24 casos. El detalle del hemisferio en treinta segundos: junio es verano en Florida e invierno en Australia, y sin invertirlo media recomendación saldría al revés. Y la frase honesta sobre la hora cuando esté el gráfico: «la mayoría de los ataques registrados ocurren en tal franja», nunca «esa franja es más peligrosa», porque contamos ataques y no surfistas.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segundos, es la diapositiva que el cliente se lleva. Contar la trampa ANTES de enseñar el gráfico, porque si no el gráfico parece trivial. Diez de los veintidós destinos no registran ningún ataque a surfistas en el bloque más reciente, y seis de ellos, ninguno desde 1950. Criterio de la lista: escuelas ya operando, temporada larga y destinos que el cliente consideraría de verdad; incluimos también los tres peores para que la comparación tenga escala. Cerrar con el aviso del pie: cero es ausencia de registro.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segundos. Leer la tabla de arriba abajo: en Carolina del Sur, KwaZulu-Natal, Cabo Oriental y Florida los hombres atacados tienen de media entre 19 y 24 años, y en Florida y Carolina del Sur hay víctimas de 6 años. En California, Nueva Gales del Sur, Australia Occidental y Hawái la media pasa de 30. Es dato de perfil, no de riesgo: si en un destino las víctimas son jóvenes puede ser que allí surfee gente joven. Para una escuela con grupos infantiles, es una razón para reforzar la vigilancia en los primeros cuatro, no una prohibición. La media es la de los hombres porque son la gran mayoría de los casos en todos los estados.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segundos. Es el argumento comercial del cliente y a la vez la diapositiva donde se marca dónde acaba el dato. El surf tiene la mortalidad más baja de las cuatro actividades y el porcentaje más alto de ataques sin herida: 17,3% frente al 1,4% de la natación. La distinción entre las dos columnas de abajo es exactamente lo que van a preguntar, así que darla antes de que la pregunten.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segundos, es el clímax. Hablar como consultor, no como estudiante. Las tres banderas cierran las diapositivas de Florida, estaciones y destinos. Portugal, Francia y Marruecos no registran ningún ataque a surfistas ni en el bloque reciente ni desde 1950, y tienen escuelas operando. Reunión es el contraejemplo: 23 ataques a surfistas desde 2002 y 8 mortales, más de un tercio. La cuarta línea es la que separa un análisis de un proyecto: propone el experimento que arreglaría la limitación principal, y cuesta poco montarlo.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segundos. No pedir perdón: presentarlo como criterio. La frase para cerrar: un equipo que sabe dónde acaba su dato es un equipo en el que se confía. Si el tiempo aprieta, esta es la diapositiva que NO se salta.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segundos, y dejar el resto para preguntas. Cerrar con la frase del final: es la prueba de que las diapositivas salen del código y no al revés. Si hay tiempo, abrir el notebook y ejecutar una celda.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43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rcRect/>
          <a:stretch/>
        </p:blipFill>
        <p:spPr>
          <a:xfrm>
            <a:off x="0" y="0"/>
            <a:ext cx="12192000" cy="6858000"/>
          </a:xfrm>
          <a:prstGeom prst="rect">
            <a:avLst/>
          </a:prstGeom>
        </p:spPr>
      </p:pic>
      <p:sp>
        <p:nvSpPr>
          <p:cNvPr id="3" name="Text 0"/>
          <p:cNvSpPr/>
          <p:nvPr/>
        </p:nvSpPr>
        <p:spPr>
          <a:xfrm>
            <a:off x="812800" y="812800"/>
            <a:ext cx="4548427" cy="274320"/>
          </a:xfrm>
          <a:prstGeom prst="rect">
            <a:avLst/>
          </a:prstGeom>
          <a:noFill/>
          <a:ln/>
        </p:spPr>
        <p:txBody>
          <a:bodyPr wrap="square" lIns="0" tIns="0" rIns="0" bIns="0" rtlCol="0" anchor="t">
            <a:normAutofit/>
          </a:bodyPr>
          <a:lstStyle/>
          <a:p>
            <a:pPr marL="0" indent="0" algn="l">
              <a:lnSpc>
                <a:spcPts val="1960"/>
              </a:lnSpc>
              <a:buNone/>
            </a:pPr>
            <a:r>
              <a:rPr lang="en-US" sz="1400" kern="0" spc="300" dirty="0">
                <a:solidFill>
                  <a:srgbClr val="8FBAC6"/>
                </a:solidFill>
                <a:latin typeface="Oswald" pitchFamily="34" charset="0"/>
                <a:ea typeface="Oswald" pitchFamily="34" charset="-122"/>
                <a:cs typeface="Oswald" pitchFamily="34" charset="-120"/>
              </a:rPr>
              <a:t>GLOBAL SHARK ATTACK FILE  /  1951 – 2025</a:t>
            </a:r>
            <a:endParaRPr lang="en-US" sz="1400" dirty="0"/>
          </a:p>
        </p:txBody>
      </p:sp>
      <p:sp>
        <p:nvSpPr>
          <p:cNvPr id="5" name="Text 1"/>
          <p:cNvSpPr/>
          <p:nvPr/>
        </p:nvSpPr>
        <p:spPr>
          <a:xfrm>
            <a:off x="9966484" y="812800"/>
            <a:ext cx="1463516" cy="25654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6" name="Text 2"/>
          <p:cNvSpPr/>
          <p:nvPr/>
        </p:nvSpPr>
        <p:spPr>
          <a:xfrm>
            <a:off x="812800" y="1884680"/>
            <a:ext cx="9552405" cy="2016760"/>
          </a:xfrm>
          <a:prstGeom prst="rect">
            <a:avLst/>
          </a:prstGeom>
          <a:noFill/>
          <a:ln/>
        </p:spPr>
        <p:txBody>
          <a:bodyPr wrap="square" lIns="0" tIns="0" rIns="0" bIns="0" rtlCol="0" anchor="t">
            <a:normAutofit/>
          </a:bodyPr>
          <a:lstStyle/>
          <a:p>
            <a:pPr>
              <a:lnSpc>
                <a:spcPts val="7840"/>
              </a:lnSpc>
            </a:pPr>
            <a:r>
              <a:rPr lang="en-US" sz="6600" b="1" kern="0" spc="-50" dirty="0">
                <a:solidFill>
                  <a:srgbClr val="F2EEE3"/>
                </a:solidFill>
                <a:latin typeface="Oswald" pitchFamily="34" charset="0"/>
                <a:ea typeface="Oswald" pitchFamily="34" charset="-122"/>
                <a:cs typeface="Oswald" pitchFamily="34" charset="-120"/>
              </a:rPr>
              <a:t>Surfing Safely: Data consulting for Surf Schools</a:t>
            </a:r>
            <a:endParaRPr lang="en-US" sz="6600" dirty="0"/>
          </a:p>
        </p:txBody>
      </p:sp>
      <p:pic>
        <p:nvPicPr>
          <p:cNvPr id="7" name="Image 2" descr="line"/>
          <p:cNvPicPr>
            <a:picLocks noChangeAspect="1"/>
          </p:cNvPicPr>
          <p:nvPr/>
        </p:nvPicPr>
        <p:blipFill>
          <a:blip r:embed="rId4"/>
          <a:srcRect l="-2083" r="-2083"/>
          <a:stretch/>
        </p:blipFill>
        <p:spPr>
          <a:xfrm>
            <a:off x="812800" y="4053840"/>
            <a:ext cx="2667000" cy="30480"/>
          </a:xfrm>
          <a:prstGeom prst="rect">
            <a:avLst/>
          </a:prstGeom>
        </p:spPr>
      </p:pic>
      <p:sp>
        <p:nvSpPr>
          <p:cNvPr id="9" name="Text 4"/>
          <p:cNvSpPr/>
          <p:nvPr/>
        </p:nvSpPr>
        <p:spPr>
          <a:xfrm>
            <a:off x="812800" y="5796280"/>
            <a:ext cx="402968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7FA3AE"/>
                </a:solidFill>
                <a:latin typeface="IBM Plex Sans" pitchFamily="34" charset="0"/>
                <a:ea typeface="IBM Plex Sans" pitchFamily="34" charset="-122"/>
                <a:cs typeface="IBM Plex Sans" pitchFamily="34" charset="-120"/>
              </a:rPr>
              <a:t>João Miguel Pais  ·  Juan Carlos Del Mar Lostanau</a:t>
            </a:r>
            <a:endParaRPr lang="en-US" sz="1400" dirty="0"/>
          </a:p>
        </p:txBody>
      </p:sp>
      <p:sp>
        <p:nvSpPr>
          <p:cNvPr id="10" name="Text 5"/>
          <p:cNvSpPr/>
          <p:nvPr/>
        </p:nvSpPr>
        <p:spPr>
          <a:xfrm>
            <a:off x="9980771" y="5796280"/>
            <a:ext cx="1449229" cy="274320"/>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7FA3AE"/>
                </a:solidFill>
                <a:latin typeface="Oswald" pitchFamily="34" charset="0"/>
                <a:ea typeface="Oswald" pitchFamily="34" charset="-122"/>
                <a:cs typeface="Oswald" pitchFamily="34" charset="-120"/>
              </a:rPr>
              <a:t>7.125 REGISTROS</a:t>
            </a:r>
            <a:endParaRPr lang="en-US" sz="1400" dirty="0"/>
          </a:p>
        </p:txBody>
      </p:sp>
      <p:sp>
        <p:nvSpPr>
          <p:cNvPr id="11" name="Text 3">
            <a:extLst>
              <a:ext uri="{FF2B5EF4-FFF2-40B4-BE49-F238E27FC236}">
                <a16:creationId xmlns:a16="http://schemas.microsoft.com/office/drawing/2014/main" id="{F3AC0CC1-58CF-4E22-A938-F9456CB0D8F2}"/>
              </a:ext>
            </a:extLst>
          </p:cNvPr>
          <p:cNvSpPr/>
          <p:nvPr/>
        </p:nvSpPr>
        <p:spPr>
          <a:xfrm>
            <a:off x="812800" y="4202363"/>
            <a:ext cx="9678737"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BCD3DA"/>
                </a:solidFill>
                <a:latin typeface="IBM Plex Sans" pitchFamily="34" charset="0"/>
              </a:rPr>
              <a:t>Análisis para la toma de decisiones y estrategias en las escuelas de surf, usando un siglo de incidentes registrados por ataques de tiburones.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EE3"/>
        </a:solidFill>
        <a:effectLst/>
      </p:bgPr>
    </p:bg>
    <p:spTree>
      <p:nvGrpSpPr>
        <p:cNvPr id="1" name=""/>
        <p:cNvGrpSpPr/>
        <p:nvPr/>
      </p:nvGrpSpPr>
      <p:grpSpPr>
        <a:xfrm>
          <a:off x="0" y="0"/>
          <a:ext cx="0" cy="0"/>
          <a:chOff x="0" y="0"/>
          <a:chExt cx="0" cy="0"/>
        </a:xfrm>
      </p:grpSpPr>
      <p:sp>
        <p:nvSpPr>
          <p:cNvPr id="2" name="Text 0"/>
          <p:cNvSpPr/>
          <p:nvPr/>
        </p:nvSpPr>
        <p:spPr>
          <a:xfrm>
            <a:off x="778510" y="514349"/>
            <a:ext cx="5494020" cy="585470"/>
          </a:xfrm>
          <a:prstGeom prst="rect">
            <a:avLst/>
          </a:prstGeom>
          <a:noFill/>
          <a:ln/>
        </p:spPr>
        <p:txBody>
          <a:bodyPr wrap="square" lIns="0" tIns="0" rIns="0" bIns="0" rtlCol="0" anchor="t">
            <a:normAutofit/>
          </a:bodyPr>
          <a:lstStyle/>
          <a:p>
            <a:pPr marL="0" indent="0" algn="l">
              <a:lnSpc>
                <a:spcPts val="4410"/>
              </a:lnSpc>
              <a:buNone/>
            </a:pPr>
            <a:r>
              <a:rPr lang="en-US" sz="4200" b="1" dirty="0">
                <a:solidFill>
                  <a:srgbClr val="12303F"/>
                </a:solidFill>
                <a:latin typeface="Oswald" pitchFamily="34" charset="0"/>
                <a:ea typeface="Oswald" pitchFamily="34" charset="-122"/>
                <a:cs typeface="Oswald" pitchFamily="34" charset="-120"/>
              </a:rPr>
              <a:t>El cliente y </a:t>
            </a:r>
            <a:r>
              <a:rPr lang="en-US" sz="4200" b="1" dirty="0" err="1">
                <a:solidFill>
                  <a:srgbClr val="12303F"/>
                </a:solidFill>
                <a:latin typeface="Oswald" pitchFamily="34" charset="0"/>
                <a:ea typeface="Oswald" pitchFamily="34" charset="-122"/>
                <a:cs typeface="Oswald" pitchFamily="34" charset="-120"/>
              </a:rPr>
              <a:t>preguntas</a:t>
            </a:r>
            <a:endParaRPr lang="en-US" sz="4200" dirty="0"/>
          </a:p>
        </p:txBody>
      </p:sp>
      <p:pic>
        <p:nvPicPr>
          <p:cNvPr id="4" name="Image 0" descr="line"/>
          <p:cNvPicPr>
            <a:picLocks noChangeAspect="1"/>
          </p:cNvPicPr>
          <p:nvPr/>
        </p:nvPicPr>
        <p:blipFill>
          <a:blip r:embed="rId3"/>
          <a:srcRect t="-3333" b="-3333"/>
          <a:stretch/>
        </p:blipFill>
        <p:spPr>
          <a:xfrm>
            <a:off x="762000" y="2104322"/>
            <a:ext cx="5334000" cy="20320"/>
          </a:xfrm>
          <a:prstGeom prst="rect">
            <a:avLst/>
          </a:prstGeom>
        </p:spPr>
      </p:pic>
      <p:sp>
        <p:nvSpPr>
          <p:cNvPr id="5" name="Text 2"/>
          <p:cNvSpPr/>
          <p:nvPr/>
        </p:nvSpPr>
        <p:spPr>
          <a:xfrm>
            <a:off x="812800" y="3046730"/>
            <a:ext cx="5494020" cy="1244600"/>
          </a:xfrm>
          <a:prstGeom prst="rect">
            <a:avLst/>
          </a:prstGeom>
          <a:noFill/>
          <a:ln/>
        </p:spPr>
        <p:txBody>
          <a:bodyPr wrap="square" lIns="0" tIns="0" rIns="0" bIns="0" rtlCol="0" anchor="t">
            <a:normAutofit/>
          </a:bodyPr>
          <a:lstStyle/>
          <a:p>
            <a:pPr marL="0" indent="0" algn="l">
              <a:lnSpc>
                <a:spcPts val="2400"/>
              </a:lnSpc>
              <a:buNone/>
            </a:pPr>
            <a:endParaRPr lang="en-US" sz="1600" dirty="0"/>
          </a:p>
        </p:txBody>
      </p:sp>
      <p:sp>
        <p:nvSpPr>
          <p:cNvPr id="12" name="Text 9"/>
          <p:cNvSpPr/>
          <p:nvPr/>
        </p:nvSpPr>
        <p:spPr>
          <a:xfrm>
            <a:off x="812800" y="6238241"/>
            <a:ext cx="412999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B8B92"/>
                </a:solidFill>
                <a:latin typeface="IBM Plex Sans" pitchFamily="34" charset="0"/>
                <a:ea typeface="IBM Plex Sans" pitchFamily="34" charset="-122"/>
                <a:cs typeface="IBM Plex Sans" pitchFamily="34" charset="-120"/>
              </a:rPr>
              <a:t>Empresa simulada · caso de negocio definido por el equipo</a:t>
            </a:r>
            <a:endParaRPr lang="en-US" sz="1200" dirty="0"/>
          </a:p>
        </p:txBody>
      </p:sp>
      <p:sp>
        <p:nvSpPr>
          <p:cNvPr id="14" name="Text 1">
            <a:extLst>
              <a:ext uri="{FF2B5EF4-FFF2-40B4-BE49-F238E27FC236}">
                <a16:creationId xmlns:a16="http://schemas.microsoft.com/office/drawing/2014/main" id="{4365DE3D-85EC-4815-AAFF-C995DF07FD6E}"/>
              </a:ext>
            </a:extLst>
          </p:cNvPr>
          <p:cNvSpPr/>
          <p:nvPr/>
        </p:nvSpPr>
        <p:spPr>
          <a:xfrm>
            <a:off x="778510" y="1211211"/>
            <a:ext cx="10883392" cy="1145540"/>
          </a:xfrm>
          <a:prstGeom prst="rect">
            <a:avLst/>
          </a:prstGeom>
          <a:noFill/>
          <a:ln/>
        </p:spPr>
        <p:txBody>
          <a:bodyPr wrap="square" lIns="0" tIns="0" rIns="0" bIns="0" rtlCol="0" anchor="t">
            <a:normAutofit/>
          </a:bodyPr>
          <a:lstStyle/>
          <a:p>
            <a:pPr marL="0" indent="0" algn="l">
              <a:lnSpc>
                <a:spcPts val="2940"/>
              </a:lnSpc>
              <a:buNone/>
            </a:pPr>
            <a:r>
              <a:rPr lang="en-US" sz="2100" dirty="0">
                <a:solidFill>
                  <a:srgbClr val="12303F"/>
                </a:solidFill>
                <a:latin typeface="IBM Plex Sans" pitchFamily="34" charset="0"/>
              </a:rPr>
              <a:t>Escuelas de surf que quieren una </a:t>
            </a:r>
            <a:r>
              <a:rPr lang="en-US" sz="2100" b="1" dirty="0">
                <a:solidFill>
                  <a:srgbClr val="12303F"/>
                </a:solidFill>
                <a:latin typeface="IBM Plex Sans" pitchFamily="34" charset="0"/>
              </a:rPr>
              <a:t>estrategia</a:t>
            </a:r>
            <a:r>
              <a:rPr lang="en-US" sz="2100" dirty="0">
                <a:solidFill>
                  <a:srgbClr val="12303F"/>
                </a:solidFill>
                <a:latin typeface="IBM Plex Sans" pitchFamily="34" charset="0"/>
              </a:rPr>
              <a:t> para minimizar riesgos y </a:t>
            </a:r>
            <a:r>
              <a:rPr lang="en-US" sz="2100" b="1" dirty="0">
                <a:solidFill>
                  <a:srgbClr val="12303F"/>
                </a:solidFill>
                <a:latin typeface="IBM Plex Sans" pitchFamily="34" charset="0"/>
              </a:rPr>
              <a:t>protocolos</a:t>
            </a:r>
            <a:r>
              <a:rPr lang="en-US" sz="2100" dirty="0">
                <a:solidFill>
                  <a:srgbClr val="12303F"/>
                </a:solidFill>
                <a:latin typeface="IBM Plex Sans" pitchFamily="34" charset="0"/>
              </a:rPr>
              <a:t> que seguir en futuros </a:t>
            </a:r>
            <a:r>
              <a:rPr lang="en-US" sz="2100" b="1" dirty="0">
                <a:solidFill>
                  <a:srgbClr val="12303F"/>
                </a:solidFill>
                <a:latin typeface="IBM Plex Sans" pitchFamily="34" charset="0"/>
              </a:rPr>
              <a:t>destinos</a:t>
            </a:r>
            <a:r>
              <a:rPr lang="en-US" sz="2100" dirty="0">
                <a:solidFill>
                  <a:srgbClr val="12303F"/>
                </a:solidFill>
                <a:latin typeface="IBM Plex Sans" pitchFamily="34" charset="0"/>
              </a:rPr>
              <a:t>.</a:t>
            </a:r>
            <a:endParaRPr lang="en-US" sz="2100" b="1" dirty="0"/>
          </a:p>
        </p:txBody>
      </p:sp>
      <p:sp>
        <p:nvSpPr>
          <p:cNvPr id="15" name="Text 0">
            <a:extLst>
              <a:ext uri="{FF2B5EF4-FFF2-40B4-BE49-F238E27FC236}">
                <a16:creationId xmlns:a16="http://schemas.microsoft.com/office/drawing/2014/main" id="{E95BD44A-3E12-44EF-BCF2-43D1EF3E0D48}"/>
              </a:ext>
            </a:extLst>
          </p:cNvPr>
          <p:cNvSpPr/>
          <p:nvPr/>
        </p:nvSpPr>
        <p:spPr>
          <a:xfrm>
            <a:off x="778510" y="2290643"/>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300" dirty="0">
                <a:solidFill>
                  <a:srgbClr val="8FBAC6"/>
                </a:solidFill>
                <a:latin typeface="Oswald" pitchFamily="34" charset="0"/>
                <a:ea typeface="Oswald" pitchFamily="34" charset="-122"/>
                <a:cs typeface="Oswald" pitchFamily="34" charset="-120"/>
              </a:rPr>
              <a:t>LAS CINCO PREGUNTAS</a:t>
            </a:r>
            <a:endParaRPr lang="en-US" sz="1400" dirty="0"/>
          </a:p>
        </p:txBody>
      </p:sp>
      <p:sp>
        <p:nvSpPr>
          <p:cNvPr id="16" name="Text 1">
            <a:extLst>
              <a:ext uri="{FF2B5EF4-FFF2-40B4-BE49-F238E27FC236}">
                <a16:creationId xmlns:a16="http://schemas.microsoft.com/office/drawing/2014/main" id="{2B4E9856-7176-4A37-875B-ADCE740C8BBB}"/>
              </a:ext>
            </a:extLst>
          </p:cNvPr>
          <p:cNvSpPr/>
          <p:nvPr/>
        </p:nvSpPr>
        <p:spPr>
          <a:xfrm>
            <a:off x="778510" y="2617669"/>
            <a:ext cx="10883392" cy="402590"/>
          </a:xfrm>
          <a:prstGeom prst="rect">
            <a:avLst/>
          </a:prstGeom>
          <a:noFill/>
          <a:ln/>
        </p:spPr>
        <p:txBody>
          <a:bodyPr wrap="square" lIns="0" tIns="0" rIns="0" bIns="0" rtlCol="0" anchor="t">
            <a:normAutofit/>
          </a:bodyPr>
          <a:lstStyle/>
          <a:p>
            <a:pPr marL="0" indent="0" algn="l">
              <a:lnSpc>
                <a:spcPts val="2970"/>
              </a:lnSpc>
              <a:buNone/>
            </a:pPr>
            <a:r>
              <a:rPr lang="en-US" sz="2100" dirty="0">
                <a:solidFill>
                  <a:srgbClr val="12303F"/>
                </a:solidFill>
                <a:latin typeface="IBM Plex Sans" pitchFamily="34" charset="0"/>
              </a:rPr>
              <a:t>01   ¿En qué países, </a:t>
            </a:r>
            <a:r>
              <a:rPr lang="en-US" sz="2100" dirty="0" err="1">
                <a:solidFill>
                  <a:srgbClr val="12303F"/>
                </a:solidFill>
                <a:latin typeface="IBM Plex Sans" pitchFamily="34" charset="0"/>
              </a:rPr>
              <a:t>regiones</a:t>
            </a:r>
            <a:r>
              <a:rPr lang="en-US" sz="2100" dirty="0">
                <a:solidFill>
                  <a:srgbClr val="12303F"/>
                </a:solidFill>
                <a:latin typeface="IBM Plex Sans" pitchFamily="34" charset="0"/>
              </a:rPr>
              <a:t> y playas se concentran los ataques a </a:t>
            </a:r>
            <a:r>
              <a:rPr lang="en-US" sz="2100" dirty="0" err="1">
                <a:solidFill>
                  <a:srgbClr val="12303F"/>
                </a:solidFill>
                <a:latin typeface="IBM Plex Sans" pitchFamily="34" charset="0"/>
              </a:rPr>
              <a:t>surfistas</a:t>
            </a:r>
            <a:r>
              <a:rPr lang="en-US" sz="2100" dirty="0">
                <a:solidFill>
                  <a:srgbClr val="12303F"/>
                </a:solidFill>
                <a:latin typeface="IBM Plex Sans" pitchFamily="34" charset="0"/>
              </a:rPr>
              <a:t>?</a:t>
            </a:r>
          </a:p>
        </p:txBody>
      </p:sp>
      <p:sp>
        <p:nvSpPr>
          <p:cNvPr id="17" name="Text 2">
            <a:extLst>
              <a:ext uri="{FF2B5EF4-FFF2-40B4-BE49-F238E27FC236}">
                <a16:creationId xmlns:a16="http://schemas.microsoft.com/office/drawing/2014/main" id="{CF3DA1A3-605A-42FB-8629-21852EB451EF}"/>
              </a:ext>
            </a:extLst>
          </p:cNvPr>
          <p:cNvSpPr/>
          <p:nvPr/>
        </p:nvSpPr>
        <p:spPr>
          <a:xfrm>
            <a:off x="778510" y="3159959"/>
            <a:ext cx="10883392" cy="402590"/>
          </a:xfrm>
          <a:prstGeom prst="rect">
            <a:avLst/>
          </a:prstGeom>
          <a:noFill/>
          <a:ln/>
        </p:spPr>
        <p:txBody>
          <a:bodyPr wrap="square" lIns="0" tIns="0" rIns="0" bIns="0" rtlCol="0" anchor="t">
            <a:normAutofit/>
          </a:bodyPr>
          <a:lstStyle/>
          <a:p>
            <a:pPr marL="0" indent="0" algn="l">
              <a:lnSpc>
                <a:spcPts val="2970"/>
              </a:lnSpc>
              <a:buNone/>
            </a:pPr>
            <a:r>
              <a:rPr lang="en-US" sz="2100" dirty="0">
                <a:solidFill>
                  <a:srgbClr val="12303F"/>
                </a:solidFill>
                <a:latin typeface="IBM Plex Sans" pitchFamily="34" charset="0"/>
              </a:rPr>
              <a:t>02   De los destinos que la escuela consideraría, ¿cuáles registran </a:t>
            </a:r>
            <a:r>
              <a:rPr lang="en-US" sz="2100" dirty="0" err="1">
                <a:solidFill>
                  <a:srgbClr val="12303F"/>
                </a:solidFill>
                <a:latin typeface="IBM Plex Sans" pitchFamily="34" charset="0"/>
              </a:rPr>
              <a:t>menos</a:t>
            </a:r>
            <a:r>
              <a:rPr lang="en-US" sz="2100" dirty="0">
                <a:solidFill>
                  <a:srgbClr val="12303F"/>
                </a:solidFill>
                <a:latin typeface="IBM Plex Sans" pitchFamily="34" charset="0"/>
              </a:rPr>
              <a:t>?</a:t>
            </a:r>
          </a:p>
        </p:txBody>
      </p:sp>
      <p:sp>
        <p:nvSpPr>
          <p:cNvPr id="18" name="Text 3">
            <a:extLst>
              <a:ext uri="{FF2B5EF4-FFF2-40B4-BE49-F238E27FC236}">
                <a16:creationId xmlns:a16="http://schemas.microsoft.com/office/drawing/2014/main" id="{40DF17E7-7E83-4E9E-9E05-5C5D691F3E8D}"/>
              </a:ext>
            </a:extLst>
          </p:cNvPr>
          <p:cNvSpPr/>
          <p:nvPr/>
        </p:nvSpPr>
        <p:spPr>
          <a:xfrm>
            <a:off x="778510" y="3675778"/>
            <a:ext cx="10883392" cy="402590"/>
          </a:xfrm>
          <a:prstGeom prst="rect">
            <a:avLst/>
          </a:prstGeom>
          <a:noFill/>
          <a:ln/>
        </p:spPr>
        <p:txBody>
          <a:bodyPr wrap="square" lIns="0" tIns="0" rIns="0" bIns="0" rtlCol="0" anchor="t">
            <a:normAutofit/>
          </a:bodyPr>
          <a:lstStyle/>
          <a:p>
            <a:pPr>
              <a:lnSpc>
                <a:spcPts val="2970"/>
              </a:lnSpc>
            </a:pPr>
            <a:r>
              <a:rPr lang="en-US" sz="2100" dirty="0">
                <a:solidFill>
                  <a:srgbClr val="12303F"/>
                </a:solidFill>
                <a:latin typeface="IBM Plex Sans" pitchFamily="34" charset="0"/>
              </a:rPr>
              <a:t>03   ¿En qué estación del año, en cada </a:t>
            </a:r>
            <a:r>
              <a:rPr lang="en-US" sz="2100" dirty="0" err="1">
                <a:solidFill>
                  <a:srgbClr val="12303F"/>
                </a:solidFill>
                <a:latin typeface="IBM Plex Sans" pitchFamily="34" charset="0"/>
              </a:rPr>
              <a:t>destino</a:t>
            </a:r>
            <a:r>
              <a:rPr lang="en-US" sz="2100" dirty="0">
                <a:solidFill>
                  <a:srgbClr val="12303F"/>
                </a:solidFill>
                <a:latin typeface="IBM Plex Sans" pitchFamily="34" charset="0"/>
              </a:rPr>
              <a:t>?</a:t>
            </a:r>
          </a:p>
        </p:txBody>
      </p:sp>
      <p:sp>
        <p:nvSpPr>
          <p:cNvPr id="19" name="Text 4">
            <a:extLst>
              <a:ext uri="{FF2B5EF4-FFF2-40B4-BE49-F238E27FC236}">
                <a16:creationId xmlns:a16="http://schemas.microsoft.com/office/drawing/2014/main" id="{197CD2B2-1286-4AD4-B420-64FBBD6AB5D4}"/>
              </a:ext>
            </a:extLst>
          </p:cNvPr>
          <p:cNvSpPr/>
          <p:nvPr/>
        </p:nvSpPr>
        <p:spPr>
          <a:xfrm>
            <a:off x="778510" y="4267399"/>
            <a:ext cx="10883392" cy="402590"/>
          </a:xfrm>
          <a:prstGeom prst="rect">
            <a:avLst/>
          </a:prstGeom>
          <a:noFill/>
          <a:ln/>
        </p:spPr>
        <p:txBody>
          <a:bodyPr wrap="square" lIns="0" tIns="0" rIns="0" bIns="0" rtlCol="0" anchor="t">
            <a:normAutofit/>
          </a:bodyPr>
          <a:lstStyle/>
          <a:p>
            <a:pPr indent="0">
              <a:lnSpc>
                <a:spcPts val="2970"/>
              </a:lnSpc>
              <a:buNone/>
            </a:pPr>
            <a:r>
              <a:rPr lang="en-US" sz="2100" dirty="0">
                <a:solidFill>
                  <a:srgbClr val="12303F"/>
                </a:solidFill>
                <a:latin typeface="IBM Plex Sans" pitchFamily="34" charset="0"/>
              </a:rPr>
              <a:t>04   ¿En qué franja </a:t>
            </a:r>
            <a:r>
              <a:rPr lang="en-US" sz="2100" dirty="0" err="1">
                <a:solidFill>
                  <a:srgbClr val="12303F"/>
                </a:solidFill>
                <a:latin typeface="IBM Plex Sans" pitchFamily="34" charset="0"/>
              </a:rPr>
              <a:t>horaria</a:t>
            </a:r>
            <a:r>
              <a:rPr lang="en-US" sz="2100" dirty="0">
                <a:solidFill>
                  <a:srgbClr val="12303F"/>
                </a:solidFill>
                <a:latin typeface="IBM Plex Sans" pitchFamily="34" charset="0"/>
              </a:rPr>
              <a:t>?</a:t>
            </a:r>
          </a:p>
        </p:txBody>
      </p:sp>
      <p:sp>
        <p:nvSpPr>
          <p:cNvPr id="20" name="Text 5">
            <a:extLst>
              <a:ext uri="{FF2B5EF4-FFF2-40B4-BE49-F238E27FC236}">
                <a16:creationId xmlns:a16="http://schemas.microsoft.com/office/drawing/2014/main" id="{1320F368-B7EB-4E0C-AAA8-A4F63F159DEA}"/>
              </a:ext>
            </a:extLst>
          </p:cNvPr>
          <p:cNvSpPr/>
          <p:nvPr/>
        </p:nvSpPr>
        <p:spPr>
          <a:xfrm>
            <a:off x="778510" y="4780815"/>
            <a:ext cx="10883392" cy="402590"/>
          </a:xfrm>
          <a:prstGeom prst="rect">
            <a:avLst/>
          </a:prstGeom>
          <a:noFill/>
          <a:ln/>
        </p:spPr>
        <p:txBody>
          <a:bodyPr wrap="square" lIns="0" tIns="0" rIns="0" bIns="0" rtlCol="0" anchor="t">
            <a:normAutofit/>
          </a:bodyPr>
          <a:lstStyle/>
          <a:p>
            <a:pPr>
              <a:lnSpc>
                <a:spcPts val="2970"/>
              </a:lnSpc>
            </a:pPr>
            <a:r>
              <a:rPr lang="en-US" sz="2100" dirty="0">
                <a:solidFill>
                  <a:srgbClr val="12303F"/>
                </a:solidFill>
                <a:latin typeface="IBM Plex Sans" pitchFamily="34" charset="0"/>
              </a:rPr>
              <a:t>05   ¿Es el surf más o menos grave que otras actividades en el </a:t>
            </a:r>
            <a:r>
              <a:rPr lang="en-US" sz="2100" dirty="0" err="1">
                <a:solidFill>
                  <a:srgbClr val="12303F"/>
                </a:solidFill>
                <a:latin typeface="IBM Plex Sans" pitchFamily="34" charset="0"/>
              </a:rPr>
              <a:t>agua</a:t>
            </a:r>
            <a:r>
              <a:rPr lang="en-US" sz="2100" dirty="0">
                <a:solidFill>
                  <a:srgbClr val="12303F"/>
                </a:solidFill>
                <a:latin typeface="IBM Plex Sans" pitchFamily="34"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2D2"/>
        </a:solidFill>
        <a:effectLst/>
      </p:bgPr>
    </p:bg>
    <p:spTree>
      <p:nvGrpSpPr>
        <p:cNvPr id="1" name=""/>
        <p:cNvGrpSpPr/>
        <p:nvPr/>
      </p:nvGrpSpPr>
      <p:grpSpPr>
        <a:xfrm>
          <a:off x="0" y="0"/>
          <a:ext cx="0" cy="0"/>
          <a:chOff x="0" y="0"/>
          <a:chExt cx="0" cy="0"/>
        </a:xfrm>
      </p:grpSpPr>
      <p:sp>
        <p:nvSpPr>
          <p:cNvPr id="2" name="Text 0"/>
          <p:cNvSpPr/>
          <p:nvPr/>
        </p:nvSpPr>
        <p:spPr>
          <a:xfrm>
            <a:off x="812800" y="782797"/>
            <a:ext cx="6781369" cy="585470"/>
          </a:xfrm>
          <a:prstGeom prst="rect">
            <a:avLst/>
          </a:prstGeom>
          <a:noFill/>
          <a:ln/>
        </p:spPr>
        <p:txBody>
          <a:bodyPr wrap="square" lIns="0" tIns="0" rIns="0" bIns="0" rtlCol="0" anchor="t">
            <a:normAutofit/>
          </a:bodyPr>
          <a:lstStyle/>
          <a:p>
            <a:pPr marL="0" indent="0" algn="l">
              <a:lnSpc>
                <a:spcPts val="4410"/>
              </a:lnSpc>
              <a:buNone/>
            </a:pPr>
            <a:r>
              <a:rPr lang="en-US" sz="4200" b="1" dirty="0">
                <a:solidFill>
                  <a:srgbClr val="12303F"/>
                </a:solidFill>
                <a:latin typeface="Oswald" pitchFamily="34" charset="0"/>
                <a:ea typeface="Oswald" pitchFamily="34" charset="-122"/>
                <a:cs typeface="Oswald" pitchFamily="34" charset="-120"/>
              </a:rPr>
              <a:t>El archivo, y lo que le falta</a:t>
            </a:r>
            <a:endParaRPr lang="en-US" sz="4200" dirty="0"/>
          </a:p>
        </p:txBody>
      </p:sp>
      <p:sp>
        <p:nvSpPr>
          <p:cNvPr id="3" name="Text 1"/>
          <p:cNvSpPr/>
          <p:nvPr/>
        </p:nvSpPr>
        <p:spPr>
          <a:xfrm>
            <a:off x="9138261" y="880587"/>
            <a:ext cx="2240939" cy="487680"/>
          </a:xfrm>
          <a:prstGeom prst="rect">
            <a:avLst/>
          </a:prstGeom>
          <a:noFill/>
          <a:ln/>
        </p:spPr>
        <p:txBody>
          <a:bodyPr wrap="square" lIns="0" tIns="0" rIns="0" bIns="0" rtlCol="0" anchor="t">
            <a:normAutofit/>
          </a:bodyPr>
          <a:lstStyle/>
          <a:p>
            <a:pPr marL="0" indent="0" algn="r">
              <a:lnSpc>
                <a:spcPts val="1820"/>
              </a:lnSpc>
              <a:buNone/>
            </a:pPr>
            <a:r>
              <a:rPr lang="en-US" sz="1300" kern="0" spc="150" dirty="0">
                <a:solidFill>
                  <a:srgbClr val="5B7480"/>
                </a:solidFill>
                <a:latin typeface="Oswald" pitchFamily="34" charset="0"/>
                <a:ea typeface="Oswald" pitchFamily="34" charset="-122"/>
                <a:cs typeface="Oswald" pitchFamily="34" charset="-120"/>
              </a:rPr>
              <a:t>DATO REAL · GSAF5.XLS</a:t>
            </a:r>
            <a:endParaRPr lang="en-US" sz="1300" dirty="0"/>
          </a:p>
          <a:p>
            <a:pPr marL="0" indent="0" algn="r">
              <a:lnSpc>
                <a:spcPts val="1820"/>
              </a:lnSpc>
              <a:buNone/>
            </a:pPr>
            <a:r>
              <a:rPr lang="en-US" sz="1300" kern="0" spc="150" dirty="0">
                <a:solidFill>
                  <a:srgbClr val="5B7480"/>
                </a:solidFill>
                <a:latin typeface="Oswald" pitchFamily="34" charset="0"/>
                <a:ea typeface="Oswald" pitchFamily="34" charset="-122"/>
                <a:cs typeface="Oswald" pitchFamily="34" charset="-120"/>
              </a:rPr>
              <a:t>7.125 FILAS × 23 COLUMNAS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4202828410"/>
              </p:ext>
            </p:extLst>
          </p:nvPr>
        </p:nvGraphicFramePr>
        <p:xfrm>
          <a:off x="822960" y="1781213"/>
          <a:ext cx="6898639" cy="4077147"/>
        </p:xfrm>
        <a:graphic>
          <a:graphicData uri="http://schemas.openxmlformats.org/drawingml/2006/table">
            <a:tbl>
              <a:tblPr/>
              <a:tblGrid>
                <a:gridCol w="1793646">
                  <a:extLst>
                    <a:ext uri="{9D8B030D-6E8A-4147-A177-3AD203B41FA5}">
                      <a16:colId xmlns:a16="http://schemas.microsoft.com/office/drawing/2014/main" val="20000"/>
                    </a:ext>
                  </a:extLst>
                </a:gridCol>
                <a:gridCol w="2483510">
                  <a:extLst>
                    <a:ext uri="{9D8B030D-6E8A-4147-A177-3AD203B41FA5}">
                      <a16:colId xmlns:a16="http://schemas.microsoft.com/office/drawing/2014/main" val="20001"/>
                    </a:ext>
                  </a:extLst>
                </a:gridCol>
                <a:gridCol w="2621483">
                  <a:extLst>
                    <a:ext uri="{9D8B030D-6E8A-4147-A177-3AD203B41FA5}">
                      <a16:colId xmlns:a16="http://schemas.microsoft.com/office/drawing/2014/main" val="20002"/>
                    </a:ext>
                  </a:extLst>
                </a:gridCol>
              </a:tblGrid>
              <a:tr h="387267">
                <a:tc>
                  <a:txBody>
                    <a:bodyPr/>
                    <a:lstStyle/>
                    <a:p>
                      <a:pPr marL="0" indent="0">
                        <a:lnSpc>
                          <a:spcPts val="1890"/>
                        </a:lnSpc>
                        <a:buNone/>
                      </a:pPr>
                      <a:r>
                        <a:rPr lang="en-US" sz="1350" b="1" dirty="0">
                          <a:solidFill>
                            <a:srgbClr val="12303F"/>
                          </a:solidFill>
                          <a:latin typeface="IBM Plex Sans" pitchFamily="34" charset="0"/>
                          <a:ea typeface="IBM Plex Sans" pitchFamily="34" charset="-122"/>
                          <a:cs typeface="IBM Plex Sans" pitchFamily="34" charset="-120"/>
                        </a:rPr>
                        <a:t>Variable</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ACA89C"/>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ACA89C"/>
                      </a:solidFill>
                      <a:prstDash val="solid"/>
                      <a:round/>
                      <a:headEnd type="none" w="med" len="med"/>
                      <a:tailEnd type="none" w="med" len="med"/>
                    </a:lnB>
                    <a:solidFill>
                      <a:srgbClr val="D7D2C3"/>
                    </a:solidFill>
                  </a:tcPr>
                </a:tc>
                <a:tc>
                  <a:txBody>
                    <a:bodyPr/>
                    <a:lstStyle/>
                    <a:p>
                      <a:pPr marL="0" indent="0">
                        <a:lnSpc>
                          <a:spcPts val="1890"/>
                        </a:lnSpc>
                        <a:buNone/>
                      </a:pPr>
                      <a:r>
                        <a:rPr lang="en-US" sz="1350" b="1" dirty="0">
                          <a:solidFill>
                            <a:srgbClr val="12303F"/>
                          </a:solidFill>
                          <a:latin typeface="IBM Plex Sans" pitchFamily="34" charset="0"/>
                          <a:ea typeface="IBM Plex Sans" pitchFamily="34" charset="-122"/>
                          <a:cs typeface="IBM Plex Sans" pitchFamily="34" charset="-120"/>
                        </a:rPr>
                        <a:t>Qué contiene</a:t>
                      </a:r>
                      <a:endParaRPr lang="en-US" sz="1350" dirty="0">
                        <a:latin typeface="IBM Plex Sans" charset="0"/>
                        <a:ea typeface="IBM Plex Sans" charset="0"/>
                        <a:cs typeface="IBM Plex Sans" charset="0"/>
                      </a:endParaRPr>
                    </a:p>
                  </a:txBody>
                  <a:tcPr marL="60007" marR="60007" marT="60007" marB="60007">
                    <a:lnL w="12700" cap="flat" cmpd="sng" algn="ctr">
                      <a:solidFill>
                        <a:srgbClr val="ACA89C"/>
                      </a:solidFill>
                      <a:prstDash val="solid"/>
                      <a:round/>
                      <a:headEnd type="none" w="med" len="med"/>
                      <a:tailEnd type="none" w="med" len="med"/>
                    </a:lnL>
                    <a:lnR w="12700" cap="flat" cmpd="sng" algn="ctr">
                      <a:solidFill>
                        <a:srgbClr val="ACA89C"/>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ACA89C"/>
                      </a:solidFill>
                      <a:prstDash val="solid"/>
                      <a:round/>
                      <a:headEnd type="none" w="med" len="med"/>
                      <a:tailEnd type="none" w="med" len="med"/>
                    </a:lnB>
                    <a:solidFill>
                      <a:srgbClr val="D7D2C3"/>
                    </a:solidFill>
                  </a:tcPr>
                </a:tc>
                <a:tc>
                  <a:txBody>
                    <a:bodyPr/>
                    <a:lstStyle/>
                    <a:p>
                      <a:pPr marL="0" indent="0">
                        <a:lnSpc>
                          <a:spcPts val="1890"/>
                        </a:lnSpc>
                        <a:buNone/>
                      </a:pPr>
                      <a:r>
                        <a:rPr lang="en-US" sz="1350" b="1" dirty="0">
                          <a:solidFill>
                            <a:srgbClr val="12303F"/>
                          </a:solidFill>
                          <a:latin typeface="IBM Plex Sans" pitchFamily="34" charset="0"/>
                          <a:ea typeface="IBM Plex Sans" pitchFamily="34" charset="-122"/>
                          <a:cs typeface="IBM Plex Sans" pitchFamily="34" charset="-120"/>
                        </a:rPr>
                        <a:t>En qué la convertimos</a:t>
                      </a:r>
                      <a:endParaRPr lang="en-US" sz="1350" dirty="0">
                        <a:latin typeface="IBM Plex Sans" charset="0"/>
                        <a:ea typeface="IBM Plex Sans" charset="0"/>
                        <a:cs typeface="IBM Plex Sans" charset="0"/>
                      </a:endParaRPr>
                    </a:p>
                  </a:txBody>
                  <a:tcPr marL="60007" marR="60007" marT="60007" marB="60007">
                    <a:lnL w="12700" cap="flat" cmpd="sng" algn="ctr">
                      <a:solidFill>
                        <a:srgbClr val="ACA89C"/>
                      </a:solidFill>
                      <a:prstDash val="solid"/>
                      <a:round/>
                      <a:headEnd type="none" w="med" len="med"/>
                      <a:tailEnd type="none" w="med" len="med"/>
                    </a:lnL>
                    <a:lnR w="12700" cap="flat" cmpd="sng" algn="ctr">
                      <a:solidFill>
                        <a:srgbClr val="ACA89C"/>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ACA89C"/>
                      </a:solidFill>
                      <a:prstDash val="solid"/>
                      <a:round/>
                      <a:headEnd type="none" w="med" len="med"/>
                      <a:tailEnd type="none" w="med" len="med"/>
                    </a:lnB>
                    <a:solidFill>
                      <a:srgbClr val="D7D2C3"/>
                    </a:solidFill>
                  </a:tcPr>
                </a:tc>
                <a:extLst>
                  <a:ext uri="{0D108BD9-81ED-4DB2-BD59-A6C34878D82A}">
                    <a16:rowId xmlns:a16="http://schemas.microsoft.com/office/drawing/2014/main" val="10000"/>
                  </a:ext>
                </a:extLst>
              </a:tr>
              <a:tr h="388340">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Date · Year</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ACA89C"/>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Fecha en texto libre</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ACA89C"/>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month · season · bloque_año</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ACA89C"/>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1"/>
                  </a:ext>
                </a:extLst>
              </a:tr>
              <a:tr h="660308">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Type</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15 variantes de provocado y no provocado</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4 categorías</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2"/>
                  </a:ext>
                </a:extLst>
              </a:tr>
              <a:tr h="660308">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Country · State · Location</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País, región, playa</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Normalizadas · state_group</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3"/>
                  </a:ext>
                </a:extLst>
              </a:tr>
              <a:tr h="660308">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Activity</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Qué hacía la víctima, texto libre</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activity_group, 5 actividades</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4"/>
                  </a:ext>
                </a:extLst>
              </a:tr>
              <a:tr h="660308">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Injury · Fatal</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Herida descrita a mano y desenlace</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injury_grouped · fatality en Y/N</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5"/>
                  </a:ext>
                </a:extLst>
              </a:tr>
              <a:tr h="660308">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Time · Age · Sex</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Hora, edad y sexo</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nSpc>
                          <a:spcPts val="1890"/>
                        </a:lnSpc>
                        <a:buNone/>
                      </a:pPr>
                      <a:r>
                        <a:rPr lang="en-US" sz="1350" dirty="0">
                          <a:solidFill>
                            <a:srgbClr val="12303F"/>
                          </a:solidFill>
                          <a:latin typeface="IBM Plex Sans" pitchFamily="34" charset="0"/>
                          <a:ea typeface="IBM Plex Sans" pitchFamily="34" charset="-122"/>
                          <a:cs typeface="IBM Plex Sans" pitchFamily="34" charset="-120"/>
                        </a:rPr>
                        <a:t>time_group · Int64 · 3 categorías</a:t>
                      </a:r>
                      <a:endParaRPr lang="en-US" sz="1350" dirty="0">
                        <a:latin typeface="IBM Plex Sans" charset="0"/>
                        <a:ea typeface="IBM Plex Sans" charset="0"/>
                        <a:cs typeface="IBM Plex Sans" charset="0"/>
                      </a:endParaRPr>
                    </a:p>
                  </a:txBody>
                  <a:tcPr marL="60007" marR="60007" marT="60007" marB="60007">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077200" y="1596867"/>
            <a:ext cx="3401060" cy="25654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B33A1A"/>
                </a:solidFill>
                <a:latin typeface="Oswald" pitchFamily="34" charset="0"/>
                <a:ea typeface="Oswald" pitchFamily="34" charset="-122"/>
                <a:cs typeface="Oswald" pitchFamily="34" charset="-120"/>
              </a:rPr>
              <a:t>SONDEO DE VACÍOS</a:t>
            </a:r>
            <a:endParaRPr lang="en-US" sz="1300" dirty="0"/>
          </a:p>
        </p:txBody>
      </p:sp>
      <p:sp>
        <p:nvSpPr>
          <p:cNvPr id="6" name="Text 3"/>
          <p:cNvSpPr/>
          <p:nvPr/>
        </p:nvSpPr>
        <p:spPr>
          <a:xfrm>
            <a:off x="8077200" y="2005806"/>
            <a:ext cx="340106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33A1A"/>
                </a:solidFill>
                <a:latin typeface="Oswald" pitchFamily="34" charset="0"/>
                <a:ea typeface="Oswald" pitchFamily="34" charset="-122"/>
                <a:cs typeface="Oswald" pitchFamily="34" charset="-120"/>
              </a:rPr>
              <a:t>49,5%</a:t>
            </a:r>
            <a:endParaRPr lang="en-US" sz="4800" dirty="0"/>
          </a:p>
        </p:txBody>
      </p:sp>
      <p:sp>
        <p:nvSpPr>
          <p:cNvPr id="7" name="Text 4"/>
          <p:cNvSpPr/>
          <p:nvPr/>
        </p:nvSpPr>
        <p:spPr>
          <a:xfrm>
            <a:off x="8077200" y="2640806"/>
            <a:ext cx="3401060"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5D6B"/>
                </a:solidFill>
                <a:latin typeface="IBM Plex Sans" pitchFamily="34" charset="0"/>
                <a:ea typeface="IBM Plex Sans" pitchFamily="34" charset="-122"/>
                <a:cs typeface="IBM Plex Sans" pitchFamily="34" charset="-120"/>
              </a:rPr>
              <a:t>sin hora. El análisis horario se apoya en media tabla</a:t>
            </a:r>
            <a:endParaRPr lang="en-US" sz="1400" dirty="0"/>
          </a:p>
        </p:txBody>
      </p:sp>
      <p:pic>
        <p:nvPicPr>
          <p:cNvPr id="8" name="Image 0" descr="line"/>
          <p:cNvPicPr>
            <a:picLocks noChangeAspect="1"/>
          </p:cNvPicPr>
          <p:nvPr/>
        </p:nvPicPr>
        <p:blipFill>
          <a:blip r:embed="rId3"/>
          <a:srcRect l="-12500" r="-12500"/>
          <a:stretch/>
        </p:blipFill>
        <p:spPr>
          <a:xfrm>
            <a:off x="8077200" y="3298667"/>
            <a:ext cx="3302000" cy="10160"/>
          </a:xfrm>
          <a:prstGeom prst="rect">
            <a:avLst/>
          </a:prstGeom>
        </p:spPr>
      </p:pic>
      <p:sp>
        <p:nvSpPr>
          <p:cNvPr id="9" name="Text 5"/>
          <p:cNvSpPr/>
          <p:nvPr/>
        </p:nvSpPr>
        <p:spPr>
          <a:xfrm>
            <a:off x="8077200" y="3486626"/>
            <a:ext cx="340106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33A1A"/>
                </a:solidFill>
                <a:latin typeface="Oswald" pitchFamily="34" charset="0"/>
                <a:ea typeface="Oswald" pitchFamily="34" charset="-122"/>
                <a:cs typeface="Oswald" pitchFamily="34" charset="-120"/>
              </a:rPr>
              <a:t>42%</a:t>
            </a:r>
            <a:endParaRPr lang="en-US" sz="4800" dirty="0"/>
          </a:p>
        </p:txBody>
      </p:sp>
      <p:sp>
        <p:nvSpPr>
          <p:cNvPr id="10" name="Text 6"/>
          <p:cNvSpPr/>
          <p:nvPr/>
        </p:nvSpPr>
        <p:spPr>
          <a:xfrm>
            <a:off x="8077200" y="4121626"/>
            <a:ext cx="3401060"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5D6B"/>
                </a:solidFill>
                <a:latin typeface="IBM Plex Sans" pitchFamily="34" charset="0"/>
                <a:ea typeface="IBM Plex Sans" pitchFamily="34" charset="-122"/>
                <a:cs typeface="IBM Plex Sans" pitchFamily="34" charset="-120"/>
              </a:rPr>
              <a:t>sin edad. Ninguna media se enseña sin su recuento</a:t>
            </a:r>
            <a:endParaRPr lang="en-US" sz="1400" dirty="0"/>
          </a:p>
        </p:txBody>
      </p:sp>
      <p:pic>
        <p:nvPicPr>
          <p:cNvPr id="11" name="Image 1" descr="line"/>
          <p:cNvPicPr>
            <a:picLocks noChangeAspect="1"/>
          </p:cNvPicPr>
          <p:nvPr/>
        </p:nvPicPr>
        <p:blipFill>
          <a:blip r:embed="rId3"/>
          <a:srcRect l="-12500" r="-12500"/>
          <a:stretch/>
        </p:blipFill>
        <p:spPr>
          <a:xfrm>
            <a:off x="8077200" y="4779487"/>
            <a:ext cx="3302000" cy="10160"/>
          </a:xfrm>
          <a:prstGeom prst="rect">
            <a:avLst/>
          </a:prstGeom>
        </p:spPr>
      </p:pic>
      <p:sp>
        <p:nvSpPr>
          <p:cNvPr id="12" name="Text 7"/>
          <p:cNvSpPr/>
          <p:nvPr/>
        </p:nvSpPr>
        <p:spPr>
          <a:xfrm>
            <a:off x="8077200" y="4967447"/>
            <a:ext cx="340106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E7D4F"/>
                </a:solidFill>
                <a:latin typeface="Oswald" pitchFamily="34" charset="0"/>
                <a:ea typeface="Oswald" pitchFamily="34" charset="-122"/>
                <a:cs typeface="Oswald" pitchFamily="34" charset="-120"/>
              </a:rPr>
              <a:t>0,7%</a:t>
            </a:r>
            <a:endParaRPr lang="en-US" sz="4800" dirty="0"/>
          </a:p>
        </p:txBody>
      </p:sp>
      <p:sp>
        <p:nvSpPr>
          <p:cNvPr id="13" name="Text 8"/>
          <p:cNvSpPr/>
          <p:nvPr/>
        </p:nvSpPr>
        <p:spPr>
          <a:xfrm>
            <a:off x="8077200" y="5602447"/>
            <a:ext cx="3401060"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5D6B"/>
                </a:solidFill>
                <a:latin typeface="IBM Plex Sans" pitchFamily="34" charset="0"/>
                <a:ea typeface="IBM Plex Sans" pitchFamily="34" charset="-122"/>
                <a:cs typeface="IBM Plex Sans" pitchFamily="34" charset="-120"/>
              </a:rPr>
              <a:t>sin país. La variable principal llega casi entera</a:t>
            </a:r>
            <a:endParaRPr lang="en-US" sz="1400" dirty="0"/>
          </a:p>
        </p:txBody>
      </p:sp>
      <p:sp>
        <p:nvSpPr>
          <p:cNvPr id="14" name="Text 9"/>
          <p:cNvSpPr/>
          <p:nvPr/>
        </p:nvSpPr>
        <p:spPr>
          <a:xfrm>
            <a:off x="812800" y="6238241"/>
            <a:ext cx="5283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B8B92"/>
                </a:solidFill>
                <a:latin typeface="IBM Plex Sans" pitchFamily="34" charset="0"/>
                <a:ea typeface="IBM Plex Sans" pitchFamily="34" charset="-122"/>
                <a:cs typeface="IBM Plex Sans" pitchFamily="34" charset="-120"/>
              </a:rPr>
              <a:t>Fuente: sharkattackfile.net · vacíos medidos sobre las 7.125 filas originales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F2EE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85470"/>
          </a:xfrm>
          <a:prstGeom prst="rect">
            <a:avLst/>
          </a:prstGeom>
          <a:noFill/>
          <a:ln/>
        </p:spPr>
        <p:txBody>
          <a:bodyPr wrap="square" lIns="0" tIns="0" rIns="0" bIns="0" rtlCol="0" anchor="t">
            <a:normAutofit/>
          </a:bodyPr>
          <a:lstStyle/>
          <a:p>
            <a:pPr marL="0" indent="0" algn="l">
              <a:lnSpc>
                <a:spcPts val="4410"/>
              </a:lnSpc>
              <a:buNone/>
            </a:pPr>
            <a:r>
              <a:rPr lang="en-US" sz="4200" b="1" dirty="0">
                <a:solidFill>
                  <a:srgbClr val="12303F"/>
                </a:solidFill>
                <a:latin typeface="Oswald" pitchFamily="34" charset="0"/>
                <a:ea typeface="Oswald" pitchFamily="34" charset="-122"/>
                <a:cs typeface="Oswald" pitchFamily="34" charset="-120"/>
              </a:rPr>
              <a:t>Cuánto del archivo responde a la pregunta</a:t>
            </a:r>
            <a:endParaRPr lang="en-US" sz="4200" dirty="0"/>
          </a:p>
        </p:txBody>
      </p:sp>
      <p:sp>
        <p:nvSpPr>
          <p:cNvPr id="3" name="Text 1"/>
          <p:cNvSpPr/>
          <p:nvPr/>
        </p:nvSpPr>
        <p:spPr>
          <a:xfrm>
            <a:off x="812800" y="144907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B7480"/>
                </a:solidFill>
                <a:latin typeface="IBM Plex Sans" pitchFamily="34" charset="0"/>
                <a:ea typeface="IBM Plex Sans" pitchFamily="34" charset="-122"/>
                <a:cs typeface="IBM Plex Sans" pitchFamily="34" charset="-120"/>
              </a:rPr>
              <a:t>Cada filtro tiene un motivo, y ninguno es «para que salgan menos filas»</a:t>
            </a:r>
            <a:endParaRPr lang="en-US" sz="1600" dirty="0"/>
          </a:p>
        </p:txBody>
      </p:sp>
      <p:sp>
        <p:nvSpPr>
          <p:cNvPr id="4" name="Shape 2"/>
          <p:cNvSpPr/>
          <p:nvPr/>
        </p:nvSpPr>
        <p:spPr>
          <a:xfrm>
            <a:off x="812800" y="3470910"/>
            <a:ext cx="2641600" cy="0"/>
          </a:xfrm>
          <a:prstGeom prst="line">
            <a:avLst/>
          </a:prstGeom>
          <a:noFill/>
          <a:ln w="50800">
            <a:solidFill>
              <a:srgbClr val="12303F"/>
            </a:solidFill>
            <a:prstDash val="solid"/>
          </a:ln>
        </p:spPr>
        <p:txBody>
          <a:bodyPr/>
          <a:lstStyle/>
          <a:p>
            <a:endParaRPr lang="pt-PT"/>
          </a:p>
        </p:txBody>
      </p:sp>
      <p:sp>
        <p:nvSpPr>
          <p:cNvPr id="5" name="Text 3"/>
          <p:cNvSpPr/>
          <p:nvPr/>
        </p:nvSpPr>
        <p:spPr>
          <a:xfrm>
            <a:off x="812800" y="2089150"/>
            <a:ext cx="2720848" cy="685800"/>
          </a:xfrm>
          <a:prstGeom prst="rect">
            <a:avLst/>
          </a:prstGeom>
          <a:noFill/>
          <a:ln/>
        </p:spPr>
        <p:txBody>
          <a:bodyPr wrap="square" lIns="0" tIns="0" rIns="0" bIns="0" rtlCol="0" anchor="t">
            <a:normAutofit/>
          </a:bodyPr>
          <a:lstStyle/>
          <a:p>
            <a:pPr marL="0" indent="0" algn="l">
              <a:lnSpc>
                <a:spcPts val="5200"/>
              </a:lnSpc>
              <a:buNone/>
            </a:pPr>
            <a:r>
              <a:rPr lang="en-US" sz="5200" b="1" dirty="0">
                <a:solidFill>
                  <a:srgbClr val="12303F"/>
                </a:solidFill>
                <a:latin typeface="Oswald" pitchFamily="34" charset="0"/>
                <a:ea typeface="Oswald" pitchFamily="34" charset="-122"/>
                <a:cs typeface="Oswald" pitchFamily="34" charset="-120"/>
              </a:rPr>
              <a:t>7.125</a:t>
            </a:r>
            <a:endParaRPr lang="en-US" sz="5200" dirty="0"/>
          </a:p>
        </p:txBody>
      </p:sp>
      <p:sp>
        <p:nvSpPr>
          <p:cNvPr id="6" name="Text 4"/>
          <p:cNvSpPr/>
          <p:nvPr/>
        </p:nvSpPr>
        <p:spPr>
          <a:xfrm>
            <a:off x="812800" y="2825750"/>
            <a:ext cx="2720848"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5D6B"/>
                </a:solidFill>
                <a:latin typeface="IBM Plex Sans" pitchFamily="34" charset="0"/>
                <a:ea typeface="IBM Plex Sans" pitchFamily="34" charset="-122"/>
                <a:cs typeface="IBM Plex Sans" pitchFamily="34" charset="-120"/>
              </a:rPr>
              <a:t>registros</a:t>
            </a:r>
            <a:endParaRPr lang="en-US" sz="1400" dirty="0"/>
          </a:p>
          <a:p>
            <a:pPr marL="0" indent="0" algn="l">
              <a:lnSpc>
                <a:spcPts val="1890"/>
              </a:lnSpc>
              <a:buNone/>
            </a:pPr>
            <a:r>
              <a:rPr lang="en-US" sz="1400" dirty="0">
                <a:solidFill>
                  <a:srgbClr val="3F5D6B"/>
                </a:solidFill>
                <a:latin typeface="IBM Plex Sans" pitchFamily="34" charset="0"/>
                <a:ea typeface="IBM Plex Sans" pitchFamily="34" charset="-122"/>
                <a:cs typeface="IBM Plex Sans" pitchFamily="34" charset="-120"/>
              </a:rPr>
              <a:t>en el archivo</a:t>
            </a:r>
            <a:endParaRPr lang="en-US" sz="1400" dirty="0"/>
          </a:p>
        </p:txBody>
      </p:sp>
      <p:sp>
        <p:nvSpPr>
          <p:cNvPr id="7" name="Shape 5"/>
          <p:cNvSpPr/>
          <p:nvPr/>
        </p:nvSpPr>
        <p:spPr>
          <a:xfrm>
            <a:off x="3454400" y="3470910"/>
            <a:ext cx="2641600" cy="0"/>
          </a:xfrm>
          <a:prstGeom prst="line">
            <a:avLst/>
          </a:prstGeom>
          <a:noFill/>
          <a:ln w="50800">
            <a:solidFill>
              <a:srgbClr val="2C5568"/>
            </a:solidFill>
            <a:prstDash val="solid"/>
          </a:ln>
        </p:spPr>
        <p:txBody>
          <a:bodyPr/>
          <a:lstStyle/>
          <a:p>
            <a:endParaRPr lang="pt-PT"/>
          </a:p>
        </p:txBody>
      </p:sp>
      <p:sp>
        <p:nvSpPr>
          <p:cNvPr id="8" name="Text 6"/>
          <p:cNvSpPr/>
          <p:nvPr/>
        </p:nvSpPr>
        <p:spPr>
          <a:xfrm>
            <a:off x="3454400" y="2089150"/>
            <a:ext cx="2720848" cy="685800"/>
          </a:xfrm>
          <a:prstGeom prst="rect">
            <a:avLst/>
          </a:prstGeom>
          <a:noFill/>
          <a:ln/>
        </p:spPr>
        <p:txBody>
          <a:bodyPr wrap="square" lIns="0" tIns="0" rIns="0" bIns="0" rtlCol="0" anchor="t">
            <a:normAutofit/>
          </a:bodyPr>
          <a:lstStyle/>
          <a:p>
            <a:pPr marL="0" indent="0" algn="l">
              <a:lnSpc>
                <a:spcPts val="5200"/>
              </a:lnSpc>
              <a:buNone/>
            </a:pPr>
            <a:r>
              <a:rPr lang="en-US" sz="5200" b="1" dirty="0">
                <a:solidFill>
                  <a:srgbClr val="2C5568"/>
                </a:solidFill>
                <a:latin typeface="Oswald" pitchFamily="34" charset="0"/>
                <a:ea typeface="Oswald" pitchFamily="34" charset="-122"/>
                <a:cs typeface="Oswald" pitchFamily="34" charset="-120"/>
              </a:rPr>
              <a:t>5.303</a:t>
            </a:r>
            <a:endParaRPr lang="en-US" sz="5200" dirty="0"/>
          </a:p>
        </p:txBody>
      </p:sp>
      <p:sp>
        <p:nvSpPr>
          <p:cNvPr id="9" name="Text 7"/>
          <p:cNvSpPr/>
          <p:nvPr/>
        </p:nvSpPr>
        <p:spPr>
          <a:xfrm>
            <a:off x="3454400" y="2825750"/>
            <a:ext cx="2720848"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5D6B"/>
                </a:solidFill>
                <a:latin typeface="IBM Plex Sans" pitchFamily="34" charset="0"/>
                <a:ea typeface="IBM Plex Sans" pitchFamily="34" charset="-122"/>
                <a:cs typeface="IBM Plex Sans" pitchFamily="34" charset="-120"/>
              </a:rPr>
              <a:t>limpios, sin duplicados</a:t>
            </a:r>
            <a:endParaRPr lang="en-US" sz="1400" dirty="0"/>
          </a:p>
          <a:p>
            <a:pPr marL="0" indent="0" algn="l">
              <a:lnSpc>
                <a:spcPts val="1890"/>
              </a:lnSpc>
              <a:buNone/>
            </a:pPr>
            <a:r>
              <a:rPr lang="en-US" sz="1400" dirty="0">
                <a:solidFill>
                  <a:srgbClr val="3F5D6B"/>
                </a:solidFill>
                <a:latin typeface="IBM Plex Sans" pitchFamily="34" charset="0"/>
                <a:ea typeface="IBM Plex Sans" pitchFamily="34" charset="-122"/>
                <a:cs typeface="IBM Plex Sans" pitchFamily="34" charset="-120"/>
              </a:rPr>
              <a:t>y desde 1950</a:t>
            </a:r>
            <a:endParaRPr lang="en-US" sz="1400" dirty="0"/>
          </a:p>
        </p:txBody>
      </p:sp>
      <p:sp>
        <p:nvSpPr>
          <p:cNvPr id="10" name="Shape 8"/>
          <p:cNvSpPr/>
          <p:nvPr/>
        </p:nvSpPr>
        <p:spPr>
          <a:xfrm>
            <a:off x="6096000" y="3470910"/>
            <a:ext cx="2641600" cy="0"/>
          </a:xfrm>
          <a:prstGeom prst="line">
            <a:avLst/>
          </a:prstGeom>
          <a:noFill/>
          <a:ln w="50800">
            <a:solidFill>
              <a:srgbClr val="4C7C8C"/>
            </a:solidFill>
            <a:prstDash val="solid"/>
          </a:ln>
        </p:spPr>
        <p:txBody>
          <a:bodyPr/>
          <a:lstStyle/>
          <a:p>
            <a:endParaRPr lang="pt-PT"/>
          </a:p>
        </p:txBody>
      </p:sp>
      <p:sp>
        <p:nvSpPr>
          <p:cNvPr id="11" name="Text 9"/>
          <p:cNvSpPr/>
          <p:nvPr/>
        </p:nvSpPr>
        <p:spPr>
          <a:xfrm>
            <a:off x="6096000" y="2089150"/>
            <a:ext cx="2720848" cy="685800"/>
          </a:xfrm>
          <a:prstGeom prst="rect">
            <a:avLst/>
          </a:prstGeom>
          <a:noFill/>
          <a:ln/>
        </p:spPr>
        <p:txBody>
          <a:bodyPr wrap="square" lIns="0" tIns="0" rIns="0" bIns="0" rtlCol="0" anchor="t">
            <a:normAutofit/>
          </a:bodyPr>
          <a:lstStyle/>
          <a:p>
            <a:pPr marL="0" indent="0" algn="l">
              <a:lnSpc>
                <a:spcPts val="5200"/>
              </a:lnSpc>
              <a:buNone/>
            </a:pPr>
            <a:r>
              <a:rPr lang="en-US" sz="5200" b="1" dirty="0">
                <a:solidFill>
                  <a:srgbClr val="4C7C8C"/>
                </a:solidFill>
                <a:latin typeface="Oswald" pitchFamily="34" charset="0"/>
                <a:ea typeface="Oswald" pitchFamily="34" charset="-122"/>
                <a:cs typeface="Oswald" pitchFamily="34" charset="-120"/>
              </a:rPr>
              <a:t>2.683</a:t>
            </a:r>
            <a:endParaRPr lang="en-US" sz="5200" dirty="0"/>
          </a:p>
        </p:txBody>
      </p:sp>
      <p:sp>
        <p:nvSpPr>
          <p:cNvPr id="12" name="Text 10"/>
          <p:cNvSpPr/>
          <p:nvPr/>
        </p:nvSpPr>
        <p:spPr>
          <a:xfrm>
            <a:off x="6096000" y="2825750"/>
            <a:ext cx="2720848"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5D6B"/>
                </a:solidFill>
                <a:latin typeface="IBM Plex Sans" pitchFamily="34" charset="0"/>
                <a:ea typeface="IBM Plex Sans" pitchFamily="34" charset="-122"/>
                <a:cs typeface="IBM Plex Sans" pitchFamily="34" charset="-120"/>
              </a:rPr>
              <a:t>en el bloque</a:t>
            </a:r>
            <a:endParaRPr lang="en-US" sz="1400" dirty="0"/>
          </a:p>
          <a:p>
            <a:pPr marL="0" indent="0" algn="l">
              <a:lnSpc>
                <a:spcPts val="1890"/>
              </a:lnSpc>
              <a:buNone/>
            </a:pPr>
            <a:r>
              <a:rPr lang="en-US" sz="1400" dirty="0">
                <a:solidFill>
                  <a:srgbClr val="3F5D6B"/>
                </a:solidFill>
                <a:latin typeface="IBM Plex Sans" pitchFamily="34" charset="0"/>
                <a:ea typeface="IBM Plex Sans" pitchFamily="34" charset="-122"/>
                <a:cs typeface="IBM Plex Sans" pitchFamily="34" charset="-120"/>
              </a:rPr>
              <a:t>más reciente</a:t>
            </a:r>
            <a:endParaRPr lang="en-US" sz="1400" dirty="0"/>
          </a:p>
        </p:txBody>
      </p:sp>
      <p:sp>
        <p:nvSpPr>
          <p:cNvPr id="13" name="Shape 11"/>
          <p:cNvSpPr/>
          <p:nvPr/>
        </p:nvSpPr>
        <p:spPr>
          <a:xfrm>
            <a:off x="8737600" y="3470910"/>
            <a:ext cx="2641600" cy="0"/>
          </a:xfrm>
          <a:prstGeom prst="line">
            <a:avLst/>
          </a:prstGeom>
          <a:noFill/>
          <a:ln w="50800">
            <a:solidFill>
              <a:srgbClr val="B33A1A"/>
            </a:solidFill>
            <a:prstDash val="solid"/>
          </a:ln>
        </p:spPr>
        <p:txBody>
          <a:bodyPr/>
          <a:lstStyle/>
          <a:p>
            <a:endParaRPr lang="pt-PT"/>
          </a:p>
        </p:txBody>
      </p:sp>
      <p:sp>
        <p:nvSpPr>
          <p:cNvPr id="14" name="Text 12"/>
          <p:cNvSpPr/>
          <p:nvPr/>
        </p:nvSpPr>
        <p:spPr>
          <a:xfrm>
            <a:off x="8737600" y="2089150"/>
            <a:ext cx="2720848" cy="685800"/>
          </a:xfrm>
          <a:prstGeom prst="rect">
            <a:avLst/>
          </a:prstGeom>
          <a:noFill/>
          <a:ln/>
        </p:spPr>
        <p:txBody>
          <a:bodyPr wrap="square" lIns="0" tIns="0" rIns="0" bIns="0" rtlCol="0" anchor="t">
            <a:normAutofit/>
          </a:bodyPr>
          <a:lstStyle/>
          <a:p>
            <a:pPr marL="0" indent="0" algn="l">
              <a:lnSpc>
                <a:spcPts val="5200"/>
              </a:lnSpc>
              <a:buNone/>
            </a:pPr>
            <a:r>
              <a:rPr lang="en-US" sz="5200" b="1" dirty="0">
                <a:solidFill>
                  <a:srgbClr val="B33A1A"/>
                </a:solidFill>
                <a:latin typeface="Oswald" pitchFamily="34" charset="0"/>
                <a:ea typeface="Oswald" pitchFamily="34" charset="-122"/>
                <a:cs typeface="Oswald" pitchFamily="34" charset="-120"/>
              </a:rPr>
              <a:t>942</a:t>
            </a:r>
            <a:endParaRPr lang="en-US" sz="5200" dirty="0"/>
          </a:p>
        </p:txBody>
      </p:sp>
      <p:sp>
        <p:nvSpPr>
          <p:cNvPr id="15" name="Text 13"/>
          <p:cNvSpPr/>
          <p:nvPr/>
        </p:nvSpPr>
        <p:spPr>
          <a:xfrm>
            <a:off x="8737600" y="2825750"/>
            <a:ext cx="2720848"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5D6B"/>
                </a:solidFill>
                <a:latin typeface="IBM Plex Sans" pitchFamily="34" charset="0"/>
                <a:ea typeface="IBM Plex Sans" pitchFamily="34" charset="-122"/>
                <a:cs typeface="IBM Plex Sans" pitchFamily="34" charset="-120"/>
              </a:rPr>
              <a:t>no provocados</a:t>
            </a:r>
            <a:endParaRPr lang="en-US" sz="1400" dirty="0"/>
          </a:p>
          <a:p>
            <a:pPr marL="0" indent="0" algn="l">
              <a:lnSpc>
                <a:spcPts val="1890"/>
              </a:lnSpc>
              <a:buNone/>
            </a:pPr>
            <a:r>
              <a:rPr lang="en-US" sz="1400" dirty="0">
                <a:solidFill>
                  <a:srgbClr val="3F5D6B"/>
                </a:solidFill>
                <a:latin typeface="IBM Plex Sans" pitchFamily="34" charset="0"/>
                <a:ea typeface="IBM Plex Sans" pitchFamily="34" charset="-122"/>
                <a:cs typeface="IBM Plex Sans" pitchFamily="34" charset="-120"/>
              </a:rPr>
              <a:t>por surfistas</a:t>
            </a:r>
            <a:endParaRPr lang="en-US" sz="1400" dirty="0"/>
          </a:p>
        </p:txBody>
      </p:sp>
      <p:sp>
        <p:nvSpPr>
          <p:cNvPr id="16" name="Text 14"/>
          <p:cNvSpPr/>
          <p:nvPr/>
        </p:nvSpPr>
        <p:spPr>
          <a:xfrm>
            <a:off x="812800" y="3851911"/>
            <a:ext cx="10203180" cy="65151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12303F"/>
                </a:solidFill>
                <a:latin typeface="IBM Plex Sans" pitchFamily="34" charset="0"/>
                <a:ea typeface="IBM Plex Sans" pitchFamily="34" charset="-122"/>
                <a:cs typeface="IBM Plex Sans" pitchFamily="34" charset="-120"/>
              </a:rPr>
              <a:t>Apartamos los ataques provocados porque un pescador que sube un tiburón al barco no dice nada del riesgo de surfear. </a:t>
            </a:r>
            <a:r>
              <a:rPr lang="en-US" sz="1700" b="1" dirty="0">
                <a:solidFill>
                  <a:srgbClr val="12303F"/>
                </a:solidFill>
                <a:latin typeface="IBM Plex Sans" pitchFamily="34" charset="0"/>
                <a:ea typeface="IBM Plex Sans" pitchFamily="34" charset="-122"/>
                <a:cs typeface="IBM Plex Sans" pitchFamily="34" charset="-120"/>
              </a:rPr>
              <a:t>Los destinos se comparan sobre la última cifra: 942 casos en 25 años.</a:t>
            </a:r>
            <a:endParaRPr lang="en-US" sz="1700" dirty="0"/>
          </a:p>
        </p:txBody>
      </p:sp>
      <p:sp>
        <p:nvSpPr>
          <p:cNvPr id="17" name="Text 15"/>
          <p:cNvSpPr/>
          <p:nvPr/>
        </p:nvSpPr>
        <p:spPr>
          <a:xfrm>
            <a:off x="812800" y="6238242"/>
            <a:ext cx="692892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B8B92"/>
                </a:solidFill>
                <a:latin typeface="IBM Plex Sans" pitchFamily="34" charset="0"/>
                <a:ea typeface="IBM Plex Sans" pitchFamily="34" charset="-122"/>
                <a:cs typeface="IBM Plex Sans" pitchFamily="34" charset="-120"/>
              </a:rPr>
              <a:t>type == unprovoked · activity_group == surfing · bloque 2002-2026, tal como está hoy el notebook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0B2431"/>
        </a:solidFill>
        <a:effectLst/>
      </p:bgPr>
    </p:bg>
    <p:spTree>
      <p:nvGrpSpPr>
        <p:cNvPr id="1" name=""/>
        <p:cNvGrpSpPr/>
        <p:nvPr/>
      </p:nvGrpSpPr>
      <p:grpSpPr>
        <a:xfrm>
          <a:off x="0" y="0"/>
          <a:ext cx="0" cy="0"/>
          <a:chOff x="0" y="0"/>
          <a:chExt cx="0" cy="0"/>
        </a:xfrm>
      </p:grpSpPr>
      <p:sp>
        <p:nvSpPr>
          <p:cNvPr id="2" name="Text 0"/>
          <p:cNvSpPr/>
          <p:nvPr/>
        </p:nvSpPr>
        <p:spPr>
          <a:xfrm>
            <a:off x="812800" y="812800"/>
            <a:ext cx="6739822" cy="585470"/>
          </a:xfrm>
          <a:prstGeom prst="rect">
            <a:avLst/>
          </a:prstGeom>
          <a:noFill/>
          <a:ln/>
        </p:spPr>
        <p:txBody>
          <a:bodyPr wrap="square" lIns="0" tIns="0" rIns="0" bIns="0" rtlCol="0" anchor="t">
            <a:normAutofit/>
          </a:bodyPr>
          <a:lstStyle/>
          <a:p>
            <a:pPr marL="0" indent="0" algn="l">
              <a:lnSpc>
                <a:spcPts val="4410"/>
              </a:lnSpc>
              <a:buNone/>
            </a:pPr>
            <a:r>
              <a:rPr lang="en-US" sz="4200" b="1" dirty="0">
                <a:solidFill>
                  <a:srgbClr val="F2EEE3"/>
                </a:solidFill>
                <a:latin typeface="Oswald" pitchFamily="34" charset="0"/>
                <a:ea typeface="Oswald" pitchFamily="34" charset="-122"/>
                <a:cs typeface="Oswald" pitchFamily="34" charset="-120"/>
              </a:rPr>
              <a:t>Lo que sí cambia con el tiempo</a:t>
            </a:r>
            <a:endParaRPr lang="en-US" sz="4200" dirty="0"/>
          </a:p>
        </p:txBody>
      </p:sp>
      <p:sp>
        <p:nvSpPr>
          <p:cNvPr id="3" name="Text 1"/>
          <p:cNvSpPr/>
          <p:nvPr/>
        </p:nvSpPr>
        <p:spPr>
          <a:xfrm>
            <a:off x="9216093" y="910592"/>
            <a:ext cx="2163107" cy="487680"/>
          </a:xfrm>
          <a:prstGeom prst="rect">
            <a:avLst/>
          </a:prstGeom>
          <a:noFill/>
          <a:ln/>
        </p:spPr>
        <p:txBody>
          <a:bodyPr wrap="square" lIns="0" tIns="0" rIns="0" bIns="0" rtlCol="0" anchor="t">
            <a:normAutofit/>
          </a:bodyPr>
          <a:lstStyle/>
          <a:p>
            <a:pPr marL="0" indent="0" algn="r">
              <a:lnSpc>
                <a:spcPts val="1820"/>
              </a:lnSpc>
              <a:buNone/>
            </a:pPr>
            <a:r>
              <a:rPr lang="en-US" sz="1300" kern="0" spc="150" dirty="0">
                <a:solidFill>
                  <a:srgbClr val="8FBAC6"/>
                </a:solidFill>
                <a:latin typeface="Oswald" pitchFamily="34" charset="0"/>
                <a:ea typeface="Oswald" pitchFamily="34" charset="-122"/>
                <a:cs typeface="Oswald" pitchFamily="34" charset="-120"/>
              </a:rPr>
              <a:t>HALLAZGO TRANSVERSAL</a:t>
            </a:r>
            <a:endParaRPr lang="en-US" sz="1300" dirty="0"/>
          </a:p>
          <a:p>
            <a:pPr marL="0" indent="0" algn="r">
              <a:lnSpc>
                <a:spcPts val="1820"/>
              </a:lnSpc>
              <a:buNone/>
            </a:pPr>
            <a:r>
              <a:rPr lang="en-US" sz="1300" kern="0" spc="150" dirty="0">
                <a:solidFill>
                  <a:srgbClr val="8FBAC6"/>
                </a:solidFill>
                <a:latin typeface="Oswald" pitchFamily="34" charset="0"/>
                <a:ea typeface="Oswald" pitchFamily="34" charset="-122"/>
                <a:cs typeface="Oswald" pitchFamily="34" charset="-120"/>
              </a:rPr>
              <a:t>TRES BLOQUES DE 25 AÑOS</a:t>
            </a:r>
            <a:endParaRPr lang="en-US" sz="1300" dirty="0"/>
          </a:p>
        </p:txBody>
      </p:sp>
      <p:pic>
        <p:nvPicPr>
          <p:cNvPr id="4" name="Image 0" descr="Mortalidad por bloque de 25 años: 22,0% en 1952-1976, 14,1% en 1977-2001 y 9,4% en 2002-2026"/>
          <p:cNvPicPr>
            <a:picLocks noChangeAspect="1"/>
          </p:cNvPicPr>
          <p:nvPr/>
        </p:nvPicPr>
        <p:blipFill>
          <a:blip r:embed="rId3"/>
          <a:srcRect t="-52" b="-52"/>
          <a:stretch/>
        </p:blipFill>
        <p:spPr>
          <a:xfrm>
            <a:off x="812800" y="1626871"/>
            <a:ext cx="5715000" cy="2711450"/>
          </a:xfrm>
          <a:prstGeom prst="rect">
            <a:avLst/>
          </a:prstGeom>
        </p:spPr>
      </p:pic>
      <p:sp>
        <p:nvSpPr>
          <p:cNvPr id="5" name="Text 2"/>
          <p:cNvSpPr/>
          <p:nvPr/>
        </p:nvSpPr>
        <p:spPr>
          <a:xfrm>
            <a:off x="6832600" y="1664339"/>
            <a:ext cx="4682998" cy="25654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8FBAC6"/>
                </a:solidFill>
                <a:latin typeface="Oswald" pitchFamily="34" charset="0"/>
                <a:ea typeface="Oswald" pitchFamily="34" charset="-122"/>
                <a:cs typeface="Oswald" pitchFamily="34" charset="-120"/>
              </a:rPr>
              <a:t>1952-1976</a:t>
            </a:r>
            <a:endParaRPr lang="en-US" sz="1300" dirty="0"/>
          </a:p>
        </p:txBody>
      </p:sp>
      <p:sp>
        <p:nvSpPr>
          <p:cNvPr id="6" name="Text 3"/>
          <p:cNvSpPr/>
          <p:nvPr/>
        </p:nvSpPr>
        <p:spPr>
          <a:xfrm>
            <a:off x="6832600" y="1958975"/>
            <a:ext cx="4682998" cy="736600"/>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F2EEE3"/>
                </a:solidFill>
                <a:latin typeface="Oswald" pitchFamily="34" charset="0"/>
                <a:ea typeface="Oswald" pitchFamily="34" charset="-122"/>
                <a:cs typeface="Oswald" pitchFamily="34" charset="-120"/>
              </a:rPr>
              <a:t>22,0%</a:t>
            </a:r>
            <a:endParaRPr lang="en-US" sz="5600" dirty="0"/>
          </a:p>
        </p:txBody>
      </p:sp>
      <p:sp>
        <p:nvSpPr>
          <p:cNvPr id="7" name="Text 4"/>
          <p:cNvSpPr/>
          <p:nvPr/>
        </p:nvSpPr>
        <p:spPr>
          <a:xfrm>
            <a:off x="6832600" y="2733675"/>
            <a:ext cx="4682998" cy="25654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8FBAC6"/>
                </a:solidFill>
                <a:latin typeface="Oswald" pitchFamily="34" charset="0"/>
                <a:ea typeface="Oswald" pitchFamily="34" charset="-122"/>
                <a:cs typeface="Oswald" pitchFamily="34" charset="-120"/>
              </a:rPr>
              <a:t>2002-2026</a:t>
            </a:r>
            <a:endParaRPr lang="en-US" sz="1300" dirty="0"/>
          </a:p>
        </p:txBody>
      </p:sp>
      <p:sp>
        <p:nvSpPr>
          <p:cNvPr id="8" name="Text 5"/>
          <p:cNvSpPr/>
          <p:nvPr/>
        </p:nvSpPr>
        <p:spPr>
          <a:xfrm>
            <a:off x="6832600" y="3028317"/>
            <a:ext cx="4682998" cy="736600"/>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E0B4A2"/>
                </a:solidFill>
                <a:latin typeface="Oswald" pitchFamily="34" charset="0"/>
                <a:ea typeface="Oswald" pitchFamily="34" charset="-122"/>
                <a:cs typeface="Oswald" pitchFamily="34" charset="-120"/>
              </a:rPr>
              <a:t>9,4%</a:t>
            </a:r>
            <a:endParaRPr lang="en-US" sz="5600" dirty="0"/>
          </a:p>
        </p:txBody>
      </p:sp>
      <p:sp>
        <p:nvSpPr>
          <p:cNvPr id="9" name="Text 6"/>
          <p:cNvSpPr/>
          <p:nvPr/>
        </p:nvSpPr>
        <p:spPr>
          <a:xfrm>
            <a:off x="6832600" y="3803017"/>
            <a:ext cx="468299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3DA"/>
                </a:solidFill>
                <a:latin typeface="IBM Plex Sans" pitchFamily="34" charset="0"/>
                <a:ea typeface="IBM Plex Sans" pitchFamily="34" charset="-122"/>
                <a:cs typeface="IBM Plex Sans" pitchFamily="34" charset="-120"/>
              </a:rPr>
              <a:t>La mortalidad de los ataques registrados bajó a menos de la mitad.</a:t>
            </a:r>
            <a:endParaRPr lang="en-US" sz="1400" dirty="0"/>
          </a:p>
        </p:txBody>
      </p:sp>
      <p:sp>
        <p:nvSpPr>
          <p:cNvPr id="10" name="Shape 7"/>
          <p:cNvSpPr/>
          <p:nvPr/>
        </p:nvSpPr>
        <p:spPr>
          <a:xfrm>
            <a:off x="812800" y="4605021"/>
            <a:ext cx="5181600" cy="0"/>
          </a:xfrm>
          <a:prstGeom prst="line">
            <a:avLst/>
          </a:prstGeom>
          <a:noFill/>
          <a:ln w="25400">
            <a:solidFill>
              <a:srgbClr val="2E7D4F"/>
            </a:solidFill>
            <a:prstDash val="solid"/>
          </a:ln>
        </p:spPr>
        <p:txBody>
          <a:bodyPr/>
          <a:lstStyle/>
          <a:p>
            <a:endParaRPr lang="pt-PT"/>
          </a:p>
        </p:txBody>
      </p:sp>
      <p:sp>
        <p:nvSpPr>
          <p:cNvPr id="11" name="Text 8"/>
          <p:cNvSpPr/>
          <p:nvPr/>
        </p:nvSpPr>
        <p:spPr>
          <a:xfrm>
            <a:off x="812800" y="4770121"/>
            <a:ext cx="533704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FCFA0"/>
                </a:solidFill>
                <a:latin typeface="Oswald" pitchFamily="34" charset="0"/>
                <a:ea typeface="Oswald" pitchFamily="34" charset="-122"/>
                <a:cs typeface="Oswald" pitchFamily="34" charset="-120"/>
              </a:rPr>
              <a:t>SE COMPARA · la mortalidad</a:t>
            </a:r>
            <a:endParaRPr lang="en-US" sz="1500" dirty="0"/>
          </a:p>
        </p:txBody>
      </p:sp>
      <p:sp>
        <p:nvSpPr>
          <p:cNvPr id="12" name="Text 9"/>
          <p:cNvSpPr/>
          <p:nvPr/>
        </p:nvSpPr>
        <p:spPr>
          <a:xfrm>
            <a:off x="812800" y="5062221"/>
            <a:ext cx="5337048"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CD3DA"/>
                </a:solidFill>
                <a:latin typeface="IBM Plex Sans" pitchFamily="34" charset="0"/>
                <a:ea typeface="IBM Plex Sans" pitchFamily="34" charset="-122"/>
                <a:cs typeface="IBM Plex Sans" pitchFamily="34" charset="-120"/>
              </a:rPr>
              <a:t>Es un porcentaje interno a cada bloque, así que no depende de cuántos casos se registraran. La caída dice algo real sobre rescate y medicina.</a:t>
            </a:r>
            <a:endParaRPr lang="en-US" sz="1400" dirty="0"/>
          </a:p>
        </p:txBody>
      </p:sp>
      <p:sp>
        <p:nvSpPr>
          <p:cNvPr id="13" name="Shape 10"/>
          <p:cNvSpPr/>
          <p:nvPr/>
        </p:nvSpPr>
        <p:spPr>
          <a:xfrm>
            <a:off x="6197600" y="4605021"/>
            <a:ext cx="5181600" cy="0"/>
          </a:xfrm>
          <a:prstGeom prst="line">
            <a:avLst/>
          </a:prstGeom>
          <a:noFill/>
          <a:ln w="25400">
            <a:solidFill>
              <a:srgbClr val="B33A1A"/>
            </a:solidFill>
            <a:prstDash val="solid"/>
          </a:ln>
        </p:spPr>
        <p:txBody>
          <a:bodyPr/>
          <a:lstStyle/>
          <a:p>
            <a:endParaRPr lang="pt-PT"/>
          </a:p>
        </p:txBody>
      </p:sp>
      <p:sp>
        <p:nvSpPr>
          <p:cNvPr id="14" name="Text 11"/>
          <p:cNvSpPr/>
          <p:nvPr/>
        </p:nvSpPr>
        <p:spPr>
          <a:xfrm>
            <a:off x="6197600" y="4770121"/>
            <a:ext cx="533704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E0B4A2"/>
                </a:solidFill>
                <a:latin typeface="Oswald" pitchFamily="34" charset="0"/>
                <a:ea typeface="Oswald" pitchFamily="34" charset="-122"/>
                <a:cs typeface="Oswald" pitchFamily="34" charset="-120"/>
              </a:rPr>
              <a:t>NO SE COMPARA · el recuento</a:t>
            </a:r>
            <a:endParaRPr lang="en-US" sz="1500" dirty="0"/>
          </a:p>
        </p:txBody>
      </p:sp>
      <p:sp>
        <p:nvSpPr>
          <p:cNvPr id="15" name="Text 12"/>
          <p:cNvSpPr/>
          <p:nvPr/>
        </p:nvSpPr>
        <p:spPr>
          <a:xfrm>
            <a:off x="6197600" y="5062221"/>
            <a:ext cx="5337048"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CD3DA"/>
                </a:solidFill>
                <a:latin typeface="IBM Plex Sans" pitchFamily="34" charset="0"/>
                <a:ea typeface="IBM Plex Sans" pitchFamily="34" charset="-122"/>
                <a:cs typeface="IBM Plex Sans" pitchFamily="34" charset="-120"/>
              </a:rPr>
              <a:t>Sube hacia el presente porque hoy se documenta casi todo. Ese gráfico mediría el archivo, no el mar. Por eso no lo enseñamos.</a:t>
            </a:r>
            <a:endParaRPr lang="en-US" sz="1400" dirty="0"/>
          </a:p>
        </p:txBody>
      </p:sp>
      <p:sp>
        <p:nvSpPr>
          <p:cNvPr id="16" name="Text 13"/>
          <p:cNvSpPr/>
          <p:nvPr/>
        </p:nvSpPr>
        <p:spPr>
          <a:xfrm>
            <a:off x="812800" y="6238242"/>
            <a:ext cx="7302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8F9B"/>
                </a:solidFill>
                <a:latin typeface="IBM Plex Sans" pitchFamily="34" charset="0"/>
                <a:ea typeface="IBM Plex Sans" pitchFamily="34" charset="-122"/>
                <a:cs typeface="IBM Plex Sans" pitchFamily="34" charset="-120"/>
              </a:rPr>
              <a:t>Casos con fatality Y ÷ ataques del bloque · el tramo 1927-1951 queda fuera: solo contiene 1950 y 1951</a:t>
            </a:r>
            <a:endParaRPr lang="en-US" sz="1200" dirty="0"/>
          </a:p>
        </p:txBody>
      </p:sp>
      <p:sp>
        <p:nvSpPr>
          <p:cNvPr id="20" name="CuadroTexto 19">
            <a:extLst>
              <a:ext uri="{FF2B5EF4-FFF2-40B4-BE49-F238E27FC236}">
                <a16:creationId xmlns:a16="http://schemas.microsoft.com/office/drawing/2014/main" id="{477066F1-4602-4F84-9EAE-4ADB5CD183DE}"/>
              </a:ext>
            </a:extLst>
          </p:cNvPr>
          <p:cNvSpPr txBox="1"/>
          <p:nvPr/>
        </p:nvSpPr>
        <p:spPr>
          <a:xfrm>
            <a:off x="9174099" y="1432375"/>
            <a:ext cx="2367548" cy="461665"/>
          </a:xfrm>
          <a:prstGeom prst="rect">
            <a:avLst/>
          </a:prstGeom>
          <a:noFill/>
        </p:spPr>
        <p:txBody>
          <a:bodyPr wrap="square">
            <a:spAutoFit/>
          </a:bodyPr>
          <a:lstStyle/>
          <a:p>
            <a:pPr marL="0" indent="0" algn="r">
              <a:buNone/>
            </a:pPr>
            <a:r>
              <a:rPr lang="en-US" sz="800" dirty="0">
                <a:solidFill>
                  <a:srgbClr val="BCD3DA"/>
                </a:solidFill>
                <a:latin typeface="IBM Plex Sans" pitchFamily="34" charset="0"/>
                <a:ea typeface="IBM Plex Sans" pitchFamily="34" charset="-122"/>
                <a:cs typeface="IBM Plex Sans" pitchFamily="34" charset="-120"/>
              </a:rPr>
              <a:t>Los </a:t>
            </a:r>
            <a:r>
              <a:rPr lang="en-US" sz="800" dirty="0" err="1">
                <a:solidFill>
                  <a:srgbClr val="BCD3DA"/>
                </a:solidFill>
                <a:latin typeface="IBM Plex Sans" pitchFamily="34" charset="0"/>
                <a:ea typeface="IBM Plex Sans" pitchFamily="34" charset="-122"/>
                <a:cs typeface="IBM Plex Sans" pitchFamily="34" charset="-120"/>
              </a:rPr>
              <a:t>tramos</a:t>
            </a:r>
            <a:r>
              <a:rPr lang="en-US" sz="800" dirty="0">
                <a:solidFill>
                  <a:srgbClr val="BCD3DA"/>
                </a:solidFill>
                <a:latin typeface="IBM Plex Sans" pitchFamily="34" charset="0"/>
                <a:ea typeface="IBM Plex Sans" pitchFamily="34" charset="-122"/>
                <a:cs typeface="IBM Plex Sans" pitchFamily="34" charset="-120"/>
              </a:rPr>
              <a:t> </a:t>
            </a:r>
            <a:r>
              <a:rPr lang="en-US" sz="800" dirty="0" err="1">
                <a:solidFill>
                  <a:srgbClr val="BCD3DA"/>
                </a:solidFill>
                <a:latin typeface="IBM Plex Sans" pitchFamily="34" charset="0"/>
                <a:ea typeface="IBM Plex Sans" pitchFamily="34" charset="-122"/>
                <a:cs typeface="IBM Plex Sans" pitchFamily="34" charset="-120"/>
              </a:rPr>
              <a:t>antiguos</a:t>
            </a:r>
            <a:r>
              <a:rPr lang="en-US" sz="800" dirty="0">
                <a:solidFill>
                  <a:srgbClr val="BCD3DA"/>
                </a:solidFill>
                <a:latin typeface="IBM Plex Sans" pitchFamily="34" charset="0"/>
                <a:ea typeface="IBM Plex Sans" pitchFamily="34" charset="-122"/>
                <a:cs typeface="IBM Plex Sans" pitchFamily="34" charset="-120"/>
              </a:rPr>
              <a:t> </a:t>
            </a:r>
            <a:r>
              <a:rPr lang="en-US" sz="800" dirty="0" err="1">
                <a:solidFill>
                  <a:srgbClr val="BCD3DA"/>
                </a:solidFill>
                <a:latin typeface="IBM Plex Sans" pitchFamily="34" charset="0"/>
                <a:ea typeface="IBM Plex Sans" pitchFamily="34" charset="-122"/>
                <a:cs typeface="IBM Plex Sans" pitchFamily="34" charset="-120"/>
              </a:rPr>
              <a:t>miden</a:t>
            </a:r>
            <a:r>
              <a:rPr lang="en-US" sz="800" dirty="0">
                <a:solidFill>
                  <a:srgbClr val="BCD3DA"/>
                </a:solidFill>
                <a:latin typeface="IBM Plex Sans" pitchFamily="34" charset="0"/>
                <a:ea typeface="IBM Plex Sans" pitchFamily="34" charset="-122"/>
                <a:cs typeface="IBM Plex Sans" pitchFamily="34" charset="-120"/>
              </a:rPr>
              <a:t> </a:t>
            </a:r>
            <a:r>
              <a:rPr lang="en-US" sz="800" dirty="0" err="1">
                <a:solidFill>
                  <a:srgbClr val="BCD3DA"/>
                </a:solidFill>
                <a:latin typeface="IBM Plex Sans" pitchFamily="34" charset="0"/>
                <a:ea typeface="IBM Plex Sans" pitchFamily="34" charset="-122"/>
                <a:cs typeface="IBM Plex Sans" pitchFamily="34" charset="-120"/>
              </a:rPr>
              <a:t>el</a:t>
            </a:r>
            <a:r>
              <a:rPr lang="en-US" sz="800" dirty="0">
                <a:solidFill>
                  <a:srgbClr val="BCD3DA"/>
                </a:solidFill>
                <a:latin typeface="IBM Plex Sans" pitchFamily="34" charset="0"/>
                <a:ea typeface="IBM Plex Sans" pitchFamily="34" charset="-122"/>
                <a:cs typeface="IBM Plex Sans" pitchFamily="34" charset="-120"/>
              </a:rPr>
              <a:t> </a:t>
            </a:r>
            <a:r>
              <a:rPr lang="en-US" sz="800" dirty="0" err="1">
                <a:solidFill>
                  <a:srgbClr val="BCD3DA"/>
                </a:solidFill>
                <a:latin typeface="IBM Plex Sans" pitchFamily="34" charset="0"/>
                <a:ea typeface="IBM Plex Sans" pitchFamily="34" charset="-122"/>
                <a:cs typeface="IBM Plex Sans" pitchFamily="34" charset="-120"/>
              </a:rPr>
              <a:t>cambio</a:t>
            </a:r>
            <a:r>
              <a:rPr lang="en-US" sz="800" dirty="0">
                <a:solidFill>
                  <a:srgbClr val="BCD3DA"/>
                </a:solidFill>
                <a:latin typeface="IBM Plex Sans" pitchFamily="34" charset="0"/>
                <a:ea typeface="IBM Plex Sans" pitchFamily="34" charset="-122"/>
                <a:cs typeface="IBM Plex Sans" pitchFamily="34" charset="-120"/>
              </a:rPr>
              <a:t>. El </a:t>
            </a:r>
            <a:r>
              <a:rPr lang="en-US" sz="800" dirty="0" err="1">
                <a:solidFill>
                  <a:srgbClr val="BCD3DA"/>
                </a:solidFill>
                <a:latin typeface="IBM Plex Sans" pitchFamily="34" charset="0"/>
                <a:ea typeface="IBM Plex Sans" pitchFamily="34" charset="-122"/>
                <a:cs typeface="IBM Plex Sans" pitchFamily="34" charset="-120"/>
              </a:rPr>
              <a:t>tramo</a:t>
            </a:r>
            <a:r>
              <a:rPr lang="en-US" sz="800" dirty="0">
                <a:solidFill>
                  <a:srgbClr val="BCD3DA"/>
                </a:solidFill>
                <a:latin typeface="IBM Plex Sans" pitchFamily="34" charset="0"/>
                <a:ea typeface="IBM Plex Sans" pitchFamily="34" charset="-122"/>
                <a:cs typeface="IBM Plex Sans" pitchFamily="34" charset="-120"/>
              </a:rPr>
              <a:t>  </a:t>
            </a:r>
            <a:r>
              <a:rPr lang="en-US" sz="800" dirty="0" err="1">
                <a:solidFill>
                  <a:srgbClr val="BCD3DA"/>
                </a:solidFill>
                <a:latin typeface="IBM Plex Sans" pitchFamily="34" charset="0"/>
                <a:ea typeface="IBM Plex Sans" pitchFamily="34" charset="-122"/>
                <a:cs typeface="IBM Plex Sans" pitchFamily="34" charset="-120"/>
              </a:rPr>
              <a:t>reciente</a:t>
            </a:r>
            <a:r>
              <a:rPr lang="en-US" sz="800" dirty="0">
                <a:solidFill>
                  <a:srgbClr val="BCD3DA"/>
                </a:solidFill>
                <a:latin typeface="IBM Plex Sans" pitchFamily="34" charset="0"/>
                <a:ea typeface="IBM Plex Sans" pitchFamily="34" charset="-122"/>
                <a:cs typeface="IBM Plex Sans" pitchFamily="34" charset="-120"/>
              </a:rPr>
              <a:t>, </a:t>
            </a:r>
            <a:r>
              <a:rPr lang="en-US" sz="800" dirty="0" err="1">
                <a:solidFill>
                  <a:srgbClr val="BCD3DA"/>
                </a:solidFill>
                <a:latin typeface="IBM Plex Sans" pitchFamily="34" charset="0"/>
                <a:ea typeface="IBM Plex Sans" pitchFamily="34" charset="-122"/>
                <a:cs typeface="IBM Plex Sans" pitchFamily="34" charset="-120"/>
              </a:rPr>
              <a:t>sostiene</a:t>
            </a:r>
            <a:r>
              <a:rPr lang="en-US" sz="800" dirty="0">
                <a:solidFill>
                  <a:srgbClr val="BCD3DA"/>
                </a:solidFill>
                <a:latin typeface="IBM Plex Sans" pitchFamily="34" charset="0"/>
                <a:ea typeface="IBM Plex Sans" pitchFamily="34" charset="-122"/>
                <a:cs typeface="IBM Plex Sans" pitchFamily="34" charset="-120"/>
              </a:rPr>
              <a:t> la </a:t>
            </a:r>
            <a:r>
              <a:rPr lang="en-US" sz="800" dirty="0" err="1">
                <a:solidFill>
                  <a:srgbClr val="BCD3DA"/>
                </a:solidFill>
                <a:latin typeface="IBM Plex Sans" pitchFamily="34" charset="0"/>
                <a:ea typeface="IBM Plex Sans" pitchFamily="34" charset="-122"/>
                <a:cs typeface="IBM Plex Sans" pitchFamily="34" charset="-120"/>
              </a:rPr>
              <a:t>recomendación</a:t>
            </a:r>
            <a:r>
              <a:rPr lang="en-US" sz="800" dirty="0">
                <a:solidFill>
                  <a:srgbClr val="BCD3DA"/>
                </a:solidFill>
                <a:latin typeface="IBM Plex Sans" pitchFamily="34" charset="0"/>
                <a:ea typeface="IBM Plex Sans" pitchFamily="34" charset="-122"/>
                <a:cs typeface="IBM Plex Sans" pitchFamily="34" charset="-120"/>
              </a:rPr>
              <a:t>: una </a:t>
            </a:r>
            <a:r>
              <a:rPr lang="en-US" sz="800" dirty="0" err="1">
                <a:solidFill>
                  <a:srgbClr val="BCD3DA"/>
                </a:solidFill>
                <a:latin typeface="IBM Plex Sans" pitchFamily="34" charset="0"/>
                <a:ea typeface="IBM Plex Sans" pitchFamily="34" charset="-122"/>
                <a:cs typeface="IBM Plex Sans" pitchFamily="34" charset="-120"/>
              </a:rPr>
              <a:t>escuela</a:t>
            </a:r>
            <a:r>
              <a:rPr lang="en-US" sz="800" dirty="0">
                <a:solidFill>
                  <a:srgbClr val="BCD3DA"/>
                </a:solidFill>
                <a:latin typeface="IBM Plex Sans" pitchFamily="34" charset="0"/>
                <a:ea typeface="IBM Plex Sans" pitchFamily="34" charset="-122"/>
                <a:cs typeface="IBM Plex Sans" pitchFamily="34" charset="-120"/>
              </a:rPr>
              <a:t> que </a:t>
            </a:r>
            <a:r>
              <a:rPr lang="en-US" sz="800" dirty="0" err="1">
                <a:solidFill>
                  <a:srgbClr val="BCD3DA"/>
                </a:solidFill>
                <a:latin typeface="IBM Plex Sans" pitchFamily="34" charset="0"/>
                <a:ea typeface="IBM Plex Sans" pitchFamily="34" charset="-122"/>
                <a:cs typeface="IBM Plex Sans" pitchFamily="34" charset="-120"/>
              </a:rPr>
              <a:t>abre</a:t>
            </a:r>
            <a:r>
              <a:rPr lang="en-US" sz="800" dirty="0">
                <a:solidFill>
                  <a:srgbClr val="BCD3DA"/>
                </a:solidFill>
                <a:latin typeface="IBM Plex Sans" pitchFamily="34" charset="0"/>
                <a:ea typeface="IBM Plex Sans" pitchFamily="34" charset="-122"/>
                <a:cs typeface="IBM Plex Sans" pitchFamily="34" charset="-120"/>
              </a:rPr>
              <a:t> hoy </a:t>
            </a:r>
            <a:r>
              <a:rPr lang="en-US" sz="800" dirty="0" err="1">
                <a:solidFill>
                  <a:srgbClr val="BCD3DA"/>
                </a:solidFill>
                <a:latin typeface="IBM Plex Sans" pitchFamily="34" charset="0"/>
                <a:ea typeface="IBM Plex Sans" pitchFamily="34" charset="-122"/>
                <a:cs typeface="IBM Plex Sans" pitchFamily="34" charset="-120"/>
              </a:rPr>
              <a:t>necesita</a:t>
            </a:r>
            <a:r>
              <a:rPr lang="en-US" sz="800" dirty="0">
                <a:solidFill>
                  <a:srgbClr val="BCD3DA"/>
                </a:solidFill>
                <a:latin typeface="IBM Plex Sans" pitchFamily="34" charset="0"/>
                <a:ea typeface="IBM Plex Sans" pitchFamily="34" charset="-122"/>
                <a:cs typeface="IBM Plex Sans" pitchFamily="34" charset="-120"/>
              </a:rPr>
              <a:t> </a:t>
            </a:r>
            <a:r>
              <a:rPr lang="en-US" sz="800" dirty="0" err="1">
                <a:solidFill>
                  <a:srgbClr val="BCD3DA"/>
                </a:solidFill>
                <a:latin typeface="IBM Plex Sans" pitchFamily="34" charset="0"/>
                <a:ea typeface="IBM Plex Sans" pitchFamily="34" charset="-122"/>
                <a:cs typeface="IBM Plex Sans" pitchFamily="34" charset="-120"/>
              </a:rPr>
              <a:t>el</a:t>
            </a:r>
            <a:r>
              <a:rPr lang="en-US" sz="800" dirty="0">
                <a:solidFill>
                  <a:srgbClr val="BCD3DA"/>
                </a:solidFill>
                <a:latin typeface="IBM Plex Sans" pitchFamily="34" charset="0"/>
                <a:ea typeface="IBM Plex Sans" pitchFamily="34" charset="-122"/>
                <a:cs typeface="IBM Plex Sans" pitchFamily="34" charset="-120"/>
              </a:rPr>
              <a:t> </a:t>
            </a:r>
            <a:r>
              <a:rPr lang="en-US" sz="800" dirty="0" err="1">
                <a:solidFill>
                  <a:srgbClr val="BCD3DA"/>
                </a:solidFill>
                <a:latin typeface="IBM Plex Sans" pitchFamily="34" charset="0"/>
                <a:ea typeface="IBM Plex Sans" pitchFamily="34" charset="-122"/>
                <a:cs typeface="IBM Plex Sans" pitchFamily="34" charset="-120"/>
              </a:rPr>
              <a:t>riesgo</a:t>
            </a:r>
            <a:r>
              <a:rPr lang="en-US" sz="800" dirty="0">
                <a:solidFill>
                  <a:srgbClr val="BCD3DA"/>
                </a:solidFill>
                <a:latin typeface="IBM Plex Sans" pitchFamily="34" charset="0"/>
                <a:ea typeface="IBM Plex Sans" pitchFamily="34" charset="-122"/>
                <a:cs typeface="IBM Plex Sans" pitchFamily="34" charset="-120"/>
              </a:rPr>
              <a:t> de hoy.</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2EEE3"/>
        </a:solidFill>
        <a:effectLst/>
      </p:bgPr>
    </p:bg>
    <p:spTree>
      <p:nvGrpSpPr>
        <p:cNvPr id="1" name=""/>
        <p:cNvGrpSpPr/>
        <p:nvPr/>
      </p:nvGrpSpPr>
      <p:grpSpPr>
        <a:xfrm>
          <a:off x="0" y="0"/>
          <a:ext cx="0" cy="0"/>
          <a:chOff x="0" y="0"/>
          <a:chExt cx="0" cy="0"/>
        </a:xfrm>
      </p:grpSpPr>
      <p:sp>
        <p:nvSpPr>
          <p:cNvPr id="2" name="Text 0"/>
          <p:cNvSpPr/>
          <p:nvPr/>
        </p:nvSpPr>
        <p:spPr>
          <a:xfrm>
            <a:off x="812799" y="812800"/>
            <a:ext cx="8800000" cy="585470"/>
          </a:xfrm>
          <a:prstGeom prst="rect">
            <a:avLst/>
          </a:prstGeom>
          <a:noFill/>
          <a:ln/>
        </p:spPr>
        <p:txBody>
          <a:bodyPr wrap="square" lIns="0" tIns="0" rIns="0" bIns="0" rtlCol="0" anchor="t">
            <a:normAutofit/>
          </a:bodyPr>
          <a:lstStyle/>
          <a:p>
            <a:pPr marL="0" indent="0" algn="l">
              <a:lnSpc>
                <a:spcPts val="4410"/>
              </a:lnSpc>
              <a:buNone/>
            </a:pPr>
            <a:r>
              <a:rPr lang="en-US" sz="4200" b="1" dirty="0">
                <a:solidFill>
                  <a:srgbClr val="12303F"/>
                </a:solidFill>
                <a:latin typeface="Oswald" pitchFamily="34" charset="0"/>
                <a:ea typeface="Oswald" pitchFamily="34" charset="-122"/>
                <a:cs typeface="Oswald" pitchFamily="34" charset="-120"/>
              </a:rPr>
              <a:t>Florida exige protocolo reforzado</a:t>
            </a:r>
            <a:endParaRPr lang="en-US" sz="4200" dirty="0"/>
          </a:p>
        </p:txBody>
      </p:sp>
      <p:pic>
        <p:nvPicPr>
          <p:cNvPr id="3" name="Image 0" descr="rect"/>
          <p:cNvPicPr>
            <a:picLocks noChangeAspect="1"/>
          </p:cNvPicPr>
          <p:nvPr/>
        </p:nvPicPr>
        <p:blipFill>
          <a:blip r:embed="rId3"/>
          <a:srcRect/>
          <a:stretch/>
        </p:blipFill>
        <p:spPr>
          <a:xfrm>
            <a:off x="9882267" y="1118871"/>
            <a:ext cx="190500" cy="254000"/>
          </a:xfrm>
          <a:prstGeom prst="rect">
            <a:avLst/>
          </a:prstGeom>
        </p:spPr>
      </p:pic>
      <p:sp>
        <p:nvSpPr>
          <p:cNvPr id="4" name="Text 1"/>
          <p:cNvSpPr/>
          <p:nvPr/>
        </p:nvSpPr>
        <p:spPr>
          <a:xfrm>
            <a:off x="10161667" y="1121414"/>
            <a:ext cx="1268333" cy="274320"/>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B3261E"/>
                </a:solidFill>
                <a:latin typeface="Oswald" pitchFamily="34" charset="0"/>
                <a:ea typeface="Oswald" pitchFamily="34" charset="-122"/>
                <a:cs typeface="Oswald" pitchFamily="34" charset="-120"/>
              </a:rPr>
              <a:t>BANDERA ROJA</a:t>
            </a:r>
            <a:endParaRPr lang="en-US" sz="1400" dirty="0"/>
          </a:p>
        </p:txBody>
      </p:sp>
      <p:pic>
        <p:nvPicPr>
          <p:cNvPr id="5" name="Image 1" descr="Ataques no provocados a surfistas en los 10 estados con más ataques, 1950-2026: Florida 498, Nueva Gales del Sur 142, California 121, Hawái 121, Cabo Oriental 80, Australia Occidental 60, Cabo Occidental 45, KwaZulu-Natal 29, Queensland 27, Carolina del Sur 24"/>
          <p:cNvPicPr>
            <a:picLocks noChangeAspect="1"/>
          </p:cNvPicPr>
          <p:nvPr/>
        </p:nvPicPr>
        <p:blipFill>
          <a:blip r:embed="rId4"/>
          <a:srcRect t="-52" b="-52"/>
          <a:stretch/>
        </p:blipFill>
        <p:spPr>
          <a:xfrm>
            <a:off x="812800" y="1601471"/>
            <a:ext cx="6096000" cy="3587750"/>
          </a:xfrm>
          <a:prstGeom prst="rect">
            <a:avLst/>
          </a:prstGeom>
        </p:spPr>
      </p:pic>
      <p:sp>
        <p:nvSpPr>
          <p:cNvPr id="6" name="Text 2"/>
          <p:cNvSpPr/>
          <p:nvPr/>
        </p:nvSpPr>
        <p:spPr>
          <a:xfrm>
            <a:off x="7213600" y="2041525"/>
            <a:ext cx="4290568" cy="736600"/>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B33A1A"/>
                </a:solidFill>
                <a:latin typeface="Oswald" pitchFamily="34" charset="0"/>
                <a:ea typeface="Oswald" pitchFamily="34" charset="-122"/>
                <a:cs typeface="Oswald" pitchFamily="34" charset="-120"/>
              </a:rPr>
              <a:t>32,9%</a:t>
            </a:r>
            <a:endParaRPr lang="en-US" sz="5600" dirty="0"/>
          </a:p>
        </p:txBody>
      </p:sp>
      <p:sp>
        <p:nvSpPr>
          <p:cNvPr id="7" name="Text 3"/>
          <p:cNvSpPr/>
          <p:nvPr/>
        </p:nvSpPr>
        <p:spPr>
          <a:xfrm>
            <a:off x="7213600" y="2790825"/>
            <a:ext cx="429056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5D6B"/>
                </a:solidFill>
                <a:latin typeface="IBM Plex Sans" pitchFamily="34" charset="0"/>
                <a:ea typeface="IBM Plex Sans" pitchFamily="34" charset="-122"/>
                <a:cs typeface="IBM Plex Sans" pitchFamily="34" charset="-120"/>
              </a:rPr>
              <a:t>de los ataques a surfistas del mundo desde 1950 fueron en Florida: 498 de 1.514</a:t>
            </a:r>
            <a:endParaRPr lang="en-US" sz="1400" dirty="0"/>
          </a:p>
        </p:txBody>
      </p:sp>
      <p:pic>
        <p:nvPicPr>
          <p:cNvPr id="8" name="Image 2" descr="line"/>
          <p:cNvPicPr>
            <a:picLocks noChangeAspect="1"/>
          </p:cNvPicPr>
          <p:nvPr/>
        </p:nvPicPr>
        <p:blipFill>
          <a:blip r:embed="rId5"/>
          <a:srcRect l="-12500" r="-12500"/>
          <a:stretch/>
        </p:blipFill>
        <p:spPr>
          <a:xfrm>
            <a:off x="7213600" y="3428367"/>
            <a:ext cx="4165600" cy="10160"/>
          </a:xfrm>
          <a:prstGeom prst="rect">
            <a:avLst/>
          </a:prstGeom>
        </p:spPr>
      </p:pic>
      <p:sp>
        <p:nvSpPr>
          <p:cNvPr id="9" name="Text 4"/>
          <p:cNvSpPr/>
          <p:nvPr/>
        </p:nvSpPr>
        <p:spPr>
          <a:xfrm>
            <a:off x="7213600" y="3578225"/>
            <a:ext cx="4290568"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F5D6B"/>
                </a:solidFill>
                <a:latin typeface="IBM Plex Sans" pitchFamily="34" charset="0"/>
                <a:ea typeface="IBM Plex Sans" pitchFamily="34" charset="-122"/>
                <a:cs typeface="IBM Plex Sans" pitchFamily="34" charset="-120"/>
              </a:rPr>
              <a:t>Cuatro veces más que </a:t>
            </a:r>
            <a:r>
              <a:rPr lang="en-US" sz="1400" b="1" dirty="0">
                <a:solidFill>
                  <a:srgbClr val="3F5D6B"/>
                </a:solidFill>
                <a:latin typeface="IBM Plex Sans" pitchFamily="34" charset="0"/>
                <a:ea typeface="IBM Plex Sans" pitchFamily="34" charset="-122"/>
                <a:cs typeface="IBM Plex Sans" pitchFamily="34" charset="-120"/>
              </a:rPr>
              <a:t>California</a:t>
            </a:r>
            <a:r>
              <a:rPr lang="en-US" sz="1400" dirty="0">
                <a:solidFill>
                  <a:srgbClr val="3F5D6B"/>
                </a:solidFill>
                <a:latin typeface="IBM Plex Sans" pitchFamily="34" charset="0"/>
                <a:ea typeface="IBM Plex Sans" pitchFamily="34" charset="-122"/>
                <a:cs typeface="IBM Plex Sans" pitchFamily="34" charset="-120"/>
              </a:rPr>
              <a:t> o </a:t>
            </a:r>
            <a:r>
              <a:rPr lang="en-US" sz="1400" b="1" dirty="0">
                <a:solidFill>
                  <a:srgbClr val="3F5D6B"/>
                </a:solidFill>
                <a:latin typeface="IBM Plex Sans" pitchFamily="34" charset="0"/>
                <a:ea typeface="IBM Plex Sans" pitchFamily="34" charset="-122"/>
                <a:cs typeface="IBM Plex Sans" pitchFamily="34" charset="-120"/>
              </a:rPr>
              <a:t>Hawái</a:t>
            </a:r>
            <a:r>
              <a:rPr lang="en-US" sz="1400" dirty="0">
                <a:solidFill>
                  <a:srgbClr val="3F5D6B"/>
                </a:solidFill>
                <a:latin typeface="IBM Plex Sans" pitchFamily="34" charset="0"/>
                <a:ea typeface="IBM Plex Sans" pitchFamily="34" charset="-122"/>
                <a:cs typeface="IBM Plex Sans" pitchFamily="34" charset="-120"/>
              </a:rPr>
              <a:t>, con 121 cada uno.</a:t>
            </a:r>
            <a:endParaRPr lang="en-US" sz="1400" dirty="0"/>
          </a:p>
        </p:txBody>
      </p:sp>
      <p:sp>
        <p:nvSpPr>
          <p:cNvPr id="10" name="Text 5"/>
          <p:cNvSpPr/>
          <p:nvPr/>
        </p:nvSpPr>
        <p:spPr>
          <a:xfrm>
            <a:off x="7213600" y="4233546"/>
            <a:ext cx="4290568" cy="90000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F5D6B"/>
                </a:solidFill>
                <a:latin typeface="IBM Plex Sans" pitchFamily="34" charset="0"/>
                <a:ea typeface="IBM Plex Sans" pitchFamily="34" charset="-122"/>
                <a:cs typeface="IBM Plex Sans" pitchFamily="34" charset="-120"/>
              </a:rPr>
              <a:t>Y dentro de Florida, </a:t>
            </a:r>
            <a:r>
              <a:rPr lang="en-US" sz="1400" b="1" dirty="0">
                <a:solidFill>
                  <a:srgbClr val="3F5D6B"/>
                </a:solidFill>
                <a:latin typeface="IBM Plex Sans" pitchFamily="34" charset="0"/>
                <a:ea typeface="IBM Plex Sans" pitchFamily="34" charset="-122"/>
                <a:cs typeface="IBM Plex Sans" pitchFamily="34" charset="-120"/>
              </a:rPr>
              <a:t>New Smyrna Beach</a:t>
            </a:r>
            <a:r>
              <a:rPr lang="en-US" sz="1400" dirty="0">
                <a:solidFill>
                  <a:srgbClr val="3F5D6B"/>
                </a:solidFill>
                <a:latin typeface="IBM Plex Sans" pitchFamily="34" charset="0"/>
                <a:ea typeface="IBM Plex Sans" pitchFamily="34" charset="-122"/>
                <a:cs typeface="IBM Plex Sans" pitchFamily="34" charset="-120"/>
              </a:rPr>
              <a:t> suma al menos 191 registros: más que Brasil entero (116).</a:t>
            </a:r>
            <a:endParaRPr lang="en-US" sz="1400" dirty="0"/>
          </a:p>
        </p:txBody>
      </p:sp>
      <p:sp>
        <p:nvSpPr>
          <p:cNvPr id="12" name="Text 7"/>
          <p:cNvSpPr/>
          <p:nvPr/>
        </p:nvSpPr>
        <p:spPr>
          <a:xfrm>
            <a:off x="812800" y="6238242"/>
            <a:ext cx="877399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B8B92"/>
                </a:solidFill>
                <a:latin typeface="IBM Plex Sans" pitchFamily="34" charset="0"/>
                <a:ea typeface="IBM Plex Sans" pitchFamily="34" charset="-122"/>
                <a:cs typeface="IBM Plex Sans" pitchFamily="34" charset="-120"/>
              </a:rPr>
              <a:t>Surfistas, no provocados, 1950-2026, en los 10 estados con más ataques · New Smyrna y Brasil: todos los tipos, desde 1950</a:t>
            </a:r>
            <a:endParaRPr lang="en-US" sz="1200" dirty="0"/>
          </a:p>
        </p:txBody>
      </p:sp>
      <p:sp>
        <p:nvSpPr>
          <p:cNvPr id="101" name="Shape 101"/>
          <p:cNvSpPr/>
          <p:nvPr/>
        </p:nvSpPr>
        <p:spPr>
          <a:xfrm>
            <a:off x="812800" y="5330000"/>
            <a:ext cx="10566400" cy="760000"/>
          </a:xfrm>
          <a:prstGeom prst="rect">
            <a:avLst/>
          </a:prstGeom>
          <a:solidFill>
            <a:srgbClr val="12303F"/>
          </a:solidFill>
          <a:ln/>
        </p:spPr>
        <p:txBody>
          <a:bodyPr/>
          <a:lstStyle/>
          <a:p>
            <a:endParaRPr lang="pt-PT"/>
          </a:p>
        </p:txBody>
      </p:sp>
      <p:sp>
        <p:nvSpPr>
          <p:cNvPr id="102" name="Text 102"/>
          <p:cNvSpPr txBox="1"/>
          <p:nvPr/>
        </p:nvSpPr>
        <p:spPr>
          <a:xfrm>
            <a:off x="1051560" y="5480000"/>
            <a:ext cx="2500000" cy="460000"/>
          </a:xfrm>
          <a:prstGeom prst="rect">
            <a:avLst/>
          </a:prstGeom>
          <a:noFill/>
          <a:ln/>
        </p:spPr>
        <p:txBody>
          <a:bodyPr wrap="square" lIns="0" tIns="0" rIns="0" bIns="0" rtlCol="0" anchor="t">
            <a:noAutofit/>
          </a:bodyPr>
          <a:lstStyle/>
          <a:p>
            <a:pPr marL="0" indent="0" algn="l">
              <a:lnSpc>
                <a:spcPts val="1820"/>
              </a:lnSpc>
              <a:buNone/>
            </a:pPr>
            <a:r>
              <a:rPr lang="es-ES" sz="1300" spc="150" dirty="0">
                <a:solidFill>
                  <a:srgbClr val="8FBAC6"/>
                </a:solidFill>
                <a:latin typeface="Oswald" pitchFamily="34" charset="0"/>
                <a:ea typeface="Oswald" pitchFamily="34" charset="-122"/>
                <a:cs typeface="Oswald" pitchFamily="34" charset="-120"/>
              </a:rPr>
              <a:t>QUÉ HACE LA ESCUELA</a:t>
            </a:r>
            <a:endParaRPr lang="es-ES" sz="1300" dirty="0"/>
          </a:p>
        </p:txBody>
      </p:sp>
      <p:sp>
        <p:nvSpPr>
          <p:cNvPr id="103" name="Text 103"/>
          <p:cNvSpPr txBox="1"/>
          <p:nvPr/>
        </p:nvSpPr>
        <p:spPr>
          <a:xfrm>
            <a:off x="3600000" y="5450000"/>
            <a:ext cx="7600000" cy="560000"/>
          </a:xfrm>
          <a:prstGeom prst="rect">
            <a:avLst/>
          </a:prstGeom>
          <a:noFill/>
          <a:ln/>
        </p:spPr>
        <p:txBody>
          <a:bodyPr wrap="square" lIns="0" tIns="0" rIns="0" bIns="0" rtlCol="0" anchor="t">
            <a:noAutofit/>
          </a:bodyPr>
          <a:lstStyle/>
          <a:p>
            <a:pPr marL="0" indent="0" algn="l">
              <a:lnSpc>
                <a:spcPts val="1900"/>
              </a:lnSpc>
              <a:buNone/>
            </a:pPr>
            <a:r>
              <a:rPr lang="es-ES" sz="1350" dirty="0">
                <a:solidFill>
                  <a:srgbClr val="F2EEE3"/>
                </a:solidFill>
                <a:latin typeface="IBM Plex Sans" pitchFamily="34" charset="0"/>
                <a:ea typeface="IBM Plex Sans" pitchFamily="34" charset="-122"/>
                <a:cs typeface="IBM Plex Sans" pitchFamily="34" charset="-120"/>
              </a:rPr>
              <a:t>Vigía en tierra con radio durante toda la clase, kit de hemorragia y formación en trauma para monitores, consulta de avistamientos locales antes de cada sesión.</a:t>
            </a:r>
            <a:endParaRPr lang="es-E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bg>
      <p:bgPr>
        <a:solidFill>
          <a:srgbClr val="F2EEE3"/>
        </a:solidFill>
        <a:effectLst/>
      </p:bgPr>
    </p:bg>
    <p:spTree>
      <p:nvGrpSpPr>
        <p:cNvPr id="1" name=""/>
        <p:cNvGrpSpPr/>
        <p:nvPr/>
      </p:nvGrpSpPr>
      <p:grpSpPr>
        <a:xfrm>
          <a:off x="0" y="0"/>
          <a:ext cx="0" cy="0"/>
          <a:chOff x="0" y="0"/>
          <a:chExt cx="0" cy="0"/>
        </a:xfrm>
      </p:grpSpPr>
      <p:sp>
        <p:nvSpPr>
          <p:cNvPr id="2" name="Text 0"/>
          <p:cNvSpPr/>
          <p:nvPr/>
        </p:nvSpPr>
        <p:spPr>
          <a:xfrm>
            <a:off x="812800" y="796925"/>
            <a:ext cx="6250183" cy="585470"/>
          </a:xfrm>
          <a:prstGeom prst="rect">
            <a:avLst/>
          </a:prstGeom>
          <a:noFill/>
          <a:ln/>
        </p:spPr>
        <p:txBody>
          <a:bodyPr wrap="square" lIns="0" tIns="0" rIns="0" bIns="0" rtlCol="0" anchor="t">
            <a:normAutofit fontScale="92500"/>
          </a:bodyPr>
          <a:lstStyle/>
          <a:p>
            <a:pPr marL="0" indent="0" algn="l">
              <a:lnSpc>
                <a:spcPts val="4410"/>
              </a:lnSpc>
              <a:buNone/>
            </a:pPr>
            <a:r>
              <a:rPr lang="en-US" sz="4200" b="1" dirty="0">
                <a:solidFill>
                  <a:srgbClr val="12303F"/>
                </a:solidFill>
                <a:latin typeface="Oswald" pitchFamily="34" charset="0"/>
                <a:ea typeface="Oswald" pitchFamily="34" charset="-122"/>
                <a:cs typeface="Oswald" pitchFamily="34" charset="-120"/>
              </a:rPr>
              <a:t>Cuándo reforzar la vigilancia</a:t>
            </a:r>
            <a:endParaRPr lang="en-US" sz="4200" dirty="0"/>
          </a:p>
        </p:txBody>
      </p:sp>
      <p:pic>
        <p:nvPicPr>
          <p:cNvPr id="3" name="Image 0" descr="rect"/>
          <p:cNvPicPr>
            <a:picLocks noChangeAspect="1"/>
          </p:cNvPicPr>
          <p:nvPr/>
        </p:nvPicPr>
        <p:blipFill>
          <a:blip r:embed="rId3"/>
          <a:srcRect/>
          <a:stretch/>
        </p:blipFill>
        <p:spPr>
          <a:xfrm>
            <a:off x="9476740" y="1102996"/>
            <a:ext cx="190500" cy="254000"/>
          </a:xfrm>
          <a:prstGeom prst="rect">
            <a:avLst/>
          </a:prstGeom>
        </p:spPr>
      </p:pic>
      <p:sp>
        <p:nvSpPr>
          <p:cNvPr id="4" name="Text 1"/>
          <p:cNvSpPr/>
          <p:nvPr/>
        </p:nvSpPr>
        <p:spPr>
          <a:xfrm>
            <a:off x="9756140" y="1105539"/>
            <a:ext cx="1673860" cy="274320"/>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96700F"/>
                </a:solidFill>
                <a:latin typeface="Oswald" pitchFamily="34" charset="0"/>
                <a:ea typeface="Oswald" pitchFamily="34" charset="-122"/>
                <a:cs typeface="Oswald" pitchFamily="34" charset="-120"/>
              </a:rPr>
              <a:t>BANDERA AMARILLA</a:t>
            </a:r>
            <a:endParaRPr lang="en-US" sz="1400" dirty="0"/>
          </a:p>
        </p:txBody>
      </p:sp>
      <p:pic>
        <p:nvPicPr>
          <p:cNvPr id="5" name="Image 1" descr="Porcentaje de ataques a surfistas por estación dentro de cada estado, 1950-2026. Florida: primavera 25%, verano 28%, otoño 41%, invierno 6%. California: 12%, 28%, 46%, 14%. Hawái: 26%, 17%, 32%, 25%. Carolina del Sur: 8%, 75%, 17%, 0%"/>
          <p:cNvPicPr>
            <a:picLocks noChangeAspect="1"/>
          </p:cNvPicPr>
          <p:nvPr/>
        </p:nvPicPr>
        <p:blipFill>
          <a:blip r:embed="rId4"/>
          <a:srcRect/>
          <a:stretch/>
        </p:blipFill>
        <p:spPr>
          <a:xfrm>
            <a:off x="812800" y="1535193"/>
            <a:ext cx="6096000" cy="3556000"/>
          </a:xfrm>
          <a:prstGeom prst="rect">
            <a:avLst/>
          </a:prstGeom>
        </p:spPr>
      </p:pic>
      <p:sp>
        <p:nvSpPr>
          <p:cNvPr id="6" name="Shape 2"/>
          <p:cNvSpPr/>
          <p:nvPr/>
        </p:nvSpPr>
        <p:spPr>
          <a:xfrm>
            <a:off x="7213600" y="1878571"/>
            <a:ext cx="4165600" cy="1376045"/>
          </a:xfrm>
          <a:prstGeom prst="rect">
            <a:avLst/>
          </a:prstGeom>
          <a:solidFill>
            <a:srgbClr val="12303F"/>
          </a:solidFill>
          <a:ln/>
        </p:spPr>
        <p:txBody>
          <a:bodyPr/>
          <a:lstStyle/>
          <a:p>
            <a:endParaRPr lang="pt-PT"/>
          </a:p>
        </p:txBody>
      </p:sp>
      <p:sp>
        <p:nvSpPr>
          <p:cNvPr id="7" name="Text 3"/>
          <p:cNvSpPr/>
          <p:nvPr/>
        </p:nvSpPr>
        <p:spPr>
          <a:xfrm>
            <a:off x="7429500" y="2069071"/>
            <a:ext cx="384581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8FBAC6"/>
                </a:solidFill>
                <a:latin typeface="Oswald" pitchFamily="34" charset="0"/>
                <a:ea typeface="Oswald" pitchFamily="34" charset="-122"/>
                <a:cs typeface="Oswald" pitchFamily="34" charset="-120"/>
              </a:rPr>
              <a:t>NO HAY UNA TEMPORADA ÚNICA</a:t>
            </a:r>
            <a:endParaRPr lang="en-US" sz="1400" dirty="0"/>
          </a:p>
        </p:txBody>
      </p:sp>
      <p:sp>
        <p:nvSpPr>
          <p:cNvPr id="8" name="Text 4"/>
          <p:cNvSpPr/>
          <p:nvPr/>
        </p:nvSpPr>
        <p:spPr>
          <a:xfrm>
            <a:off x="7429500" y="2345928"/>
            <a:ext cx="3845814"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BCD3DA"/>
                </a:solidFill>
                <a:latin typeface="IBM Plex Sans" pitchFamily="34" charset="0"/>
                <a:ea typeface="IBM Plex Sans" pitchFamily="34" charset="-122"/>
                <a:cs typeface="IBM Plex Sans" pitchFamily="34" charset="-120"/>
              </a:rPr>
              <a:t>Florida y California concentran sus ataques en otoño. Carolina del Sur, en verano. Hawái los reparte por todo el año.</a:t>
            </a:r>
            <a:endParaRPr lang="en-US" sz="1300" dirty="0"/>
          </a:p>
        </p:txBody>
      </p:sp>
      <p:sp>
        <p:nvSpPr>
          <p:cNvPr id="9" name="Shape 5"/>
          <p:cNvSpPr/>
          <p:nvPr/>
        </p:nvSpPr>
        <p:spPr>
          <a:xfrm>
            <a:off x="7219950" y="3400667"/>
            <a:ext cx="4152900" cy="1340803"/>
          </a:xfrm>
          <a:prstGeom prst="rect">
            <a:avLst/>
          </a:prstGeom>
          <a:solidFill>
            <a:srgbClr val="E8E2D2"/>
          </a:solidFill>
          <a:ln w="12700">
            <a:solidFill>
              <a:srgbClr val="A9B9C0"/>
            </a:solidFill>
            <a:prstDash val="dash"/>
          </a:ln>
        </p:spPr>
        <p:txBody>
          <a:bodyPr/>
          <a:lstStyle/>
          <a:p>
            <a:endParaRPr lang="pt-PT"/>
          </a:p>
        </p:txBody>
      </p:sp>
      <p:sp>
        <p:nvSpPr>
          <p:cNvPr id="10" name="Text 6"/>
          <p:cNvSpPr/>
          <p:nvPr/>
        </p:nvSpPr>
        <p:spPr>
          <a:xfrm>
            <a:off x="7439660" y="3594974"/>
            <a:ext cx="3824884" cy="223520"/>
          </a:xfrm>
          <a:prstGeom prst="rect">
            <a:avLst/>
          </a:prstGeom>
          <a:noFill/>
          <a:ln/>
        </p:spPr>
        <p:txBody>
          <a:bodyPr wrap="square" lIns="0" tIns="0" rIns="0" bIns="0" rtlCol="0" anchor="t">
            <a:normAutofit/>
          </a:bodyPr>
          <a:lstStyle/>
          <a:p>
            <a:pPr marL="0" indent="0" algn="l">
              <a:lnSpc>
                <a:spcPts val="1560"/>
              </a:lnSpc>
              <a:buNone/>
            </a:pPr>
            <a:r>
              <a:rPr lang="en-US" sz="1300" b="1" kern="0" spc="100" dirty="0">
                <a:solidFill>
                  <a:srgbClr val="5B7480"/>
                </a:solidFill>
                <a:latin typeface="Oswald" pitchFamily="34" charset="0"/>
                <a:ea typeface="Oswald" pitchFamily="34" charset="-122"/>
                <a:cs typeface="Oswald" pitchFamily="34" charset="-120"/>
              </a:rPr>
              <a:t>GRÁFICO 5 · FRANJAS · PENDIENTE</a:t>
            </a:r>
            <a:endParaRPr lang="en-US" sz="1300" dirty="0"/>
          </a:p>
        </p:txBody>
      </p:sp>
      <p:sp>
        <p:nvSpPr>
          <p:cNvPr id="11" name="Text 7"/>
          <p:cNvSpPr/>
          <p:nvPr/>
        </p:nvSpPr>
        <p:spPr>
          <a:xfrm>
            <a:off x="7439660" y="3856596"/>
            <a:ext cx="3824884"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3F5D6B"/>
                </a:solidFill>
                <a:latin typeface="IBM Plex Sans" pitchFamily="34" charset="0"/>
                <a:ea typeface="IBM Plex Sans" pitchFamily="34" charset="-122"/>
                <a:cs typeface="IBM Plex Sans" pitchFamily="34" charset="-120"/>
              </a:rPr>
              <a:t>La celda 120 lee «1015hrs» como las 15h y «1100hrs» como medianoche. La franja horaria entra cuando esté corregida.</a:t>
            </a:r>
            <a:endParaRPr lang="en-US" sz="1250" dirty="0"/>
          </a:p>
        </p:txBody>
      </p:sp>
      <p:sp>
        <p:nvSpPr>
          <p:cNvPr id="12" name="Text 8"/>
          <p:cNvSpPr/>
          <p:nvPr/>
        </p:nvSpPr>
        <p:spPr>
          <a:xfrm>
            <a:off x="812800" y="5269390"/>
            <a:ext cx="10203180" cy="598011"/>
          </a:xfrm>
          <a:prstGeom prst="rect">
            <a:avLst/>
          </a:prstGeom>
          <a:noFill/>
          <a:ln/>
        </p:spPr>
        <p:txBody>
          <a:bodyPr wrap="square" lIns="0" tIns="0" rIns="0" bIns="0" rtlCol="0" anchor="t">
            <a:normAutofit/>
          </a:bodyPr>
          <a:lstStyle/>
          <a:p>
            <a:pPr marL="0" indent="0" algn="l">
              <a:lnSpc>
                <a:spcPts val="2262"/>
              </a:lnSpc>
              <a:buNone/>
            </a:pPr>
            <a:r>
              <a:rPr lang="en-US" sz="1560" dirty="0">
                <a:solidFill>
                  <a:srgbClr val="12303F"/>
                </a:solidFill>
                <a:latin typeface="IBM Plex Sans" pitchFamily="34" charset="0"/>
                <a:ea typeface="IBM Plex Sans" pitchFamily="34" charset="-122"/>
                <a:cs typeface="IBM Plex Sans" pitchFamily="34" charset="-120"/>
              </a:rPr>
              <a:t>De aquí sale el entregable más accionable: un </a:t>
            </a:r>
            <a:r>
              <a:rPr lang="en-US" sz="1560" b="1" dirty="0">
                <a:solidFill>
                  <a:srgbClr val="12303F"/>
                </a:solidFill>
                <a:latin typeface="IBM Plex Sans" pitchFamily="34" charset="0"/>
                <a:ea typeface="IBM Plex Sans" pitchFamily="34" charset="-122"/>
                <a:cs typeface="IBM Plex Sans" pitchFamily="34" charset="-120"/>
              </a:rPr>
              <a:t>calendario de riesgo estacional por destino</a:t>
            </a:r>
            <a:r>
              <a:rPr lang="en-US" sz="1560" dirty="0">
                <a:solidFill>
                  <a:srgbClr val="12303F"/>
                </a:solidFill>
                <a:latin typeface="IBM Plex Sans" pitchFamily="34" charset="0"/>
                <a:ea typeface="IBM Plex Sans" pitchFamily="34" charset="-122"/>
                <a:cs typeface="IBM Plex Sans" pitchFamily="34" charset="-120"/>
              </a:rPr>
              <a:t>, que permite reforzar en meses concretos en vez de cerrar.</a:t>
            </a:r>
            <a:endParaRPr lang="en-US" sz="1560" dirty="0"/>
          </a:p>
        </p:txBody>
      </p:sp>
      <p:sp>
        <p:nvSpPr>
          <p:cNvPr id="13" name="Text 9"/>
          <p:cNvSpPr/>
          <p:nvPr/>
        </p:nvSpPr>
        <p:spPr>
          <a:xfrm>
            <a:off x="812800" y="6238242"/>
            <a:ext cx="921630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B8B92"/>
                </a:solidFill>
                <a:latin typeface="IBM Plex Sans" pitchFamily="34" charset="0"/>
                <a:ea typeface="IBM Plex Sans" pitchFamily="34" charset="-122"/>
                <a:cs typeface="IBM Plex Sans" pitchFamily="34" charset="-120"/>
              </a:rPr>
              <a:t>Surfistas, no provocados, 1950-2026 · % dentro de cada estado, sin los casos sin mes · Australia y Sudáfrica, al corregir la celda 56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E8E2D2"/>
        </a:solidFill>
        <a:effectLst/>
      </p:bgPr>
    </p:bg>
    <p:spTree>
      <p:nvGrpSpPr>
        <p:cNvPr id="1" name=""/>
        <p:cNvGrpSpPr/>
        <p:nvPr/>
      </p:nvGrpSpPr>
      <p:grpSpPr>
        <a:xfrm>
          <a:off x="0" y="0"/>
          <a:ext cx="0" cy="0"/>
          <a:chOff x="0" y="0"/>
          <a:chExt cx="0" cy="0"/>
        </a:xfrm>
      </p:grpSpPr>
      <p:sp>
        <p:nvSpPr>
          <p:cNvPr id="2" name="Text 0"/>
          <p:cNvSpPr/>
          <p:nvPr/>
        </p:nvSpPr>
        <p:spPr>
          <a:xfrm>
            <a:off x="812800" y="801768"/>
            <a:ext cx="8600000" cy="585470"/>
          </a:xfrm>
          <a:prstGeom prst="rect">
            <a:avLst/>
          </a:prstGeom>
          <a:noFill/>
          <a:ln/>
        </p:spPr>
        <p:txBody>
          <a:bodyPr wrap="square" lIns="0" tIns="0" rIns="0" bIns="0" rtlCol="0" anchor="t">
            <a:normAutofit/>
          </a:bodyPr>
          <a:lstStyle/>
          <a:p>
            <a:pPr marL="0" indent="0" algn="l">
              <a:lnSpc>
                <a:spcPts val="4410"/>
              </a:lnSpc>
              <a:buNone/>
            </a:pPr>
            <a:r>
              <a:rPr lang="en-US" sz="4200" b="1" dirty="0">
                <a:solidFill>
                  <a:srgbClr val="12303F"/>
                </a:solidFill>
                <a:latin typeface="Oswald" pitchFamily="34" charset="0"/>
                <a:ea typeface="Oswald" pitchFamily="34" charset="-122"/>
                <a:cs typeface="Oswald" pitchFamily="34" charset="-120"/>
              </a:rPr>
              <a:t>Dónde abrir primero</a:t>
            </a:r>
            <a:endParaRPr lang="en-US" sz="4200" dirty="0"/>
          </a:p>
        </p:txBody>
      </p:sp>
      <p:pic>
        <p:nvPicPr>
          <p:cNvPr id="3" name="Image 0" descr="rect"/>
          <p:cNvPicPr>
            <a:picLocks noChangeAspect="1"/>
          </p:cNvPicPr>
          <p:nvPr/>
        </p:nvPicPr>
        <p:blipFill>
          <a:blip r:embed="rId3"/>
          <a:srcRect/>
          <a:stretch/>
        </p:blipFill>
        <p:spPr>
          <a:xfrm>
            <a:off x="9770745" y="1107839"/>
            <a:ext cx="190500" cy="254000"/>
          </a:xfrm>
          <a:prstGeom prst="rect">
            <a:avLst/>
          </a:prstGeom>
        </p:spPr>
      </p:pic>
      <p:sp>
        <p:nvSpPr>
          <p:cNvPr id="4" name="Text 1"/>
          <p:cNvSpPr/>
          <p:nvPr/>
        </p:nvSpPr>
        <p:spPr>
          <a:xfrm>
            <a:off x="10050145" y="1110376"/>
            <a:ext cx="1379855" cy="274320"/>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2E7D4F"/>
                </a:solidFill>
                <a:latin typeface="Oswald" pitchFamily="34" charset="0"/>
                <a:ea typeface="Oswald" pitchFamily="34" charset="-122"/>
                <a:cs typeface="Oswald" pitchFamily="34" charset="-120"/>
              </a:rPr>
              <a:t>BANDERA VERDE</a:t>
            </a:r>
            <a:endParaRPr lang="en-US" sz="1400" dirty="0"/>
          </a:p>
        </p:txBody>
      </p:sp>
      <p:sp>
        <p:nvSpPr>
          <p:cNvPr id="5" name="Shape 2"/>
          <p:cNvSpPr/>
          <p:nvPr/>
        </p:nvSpPr>
        <p:spPr>
          <a:xfrm>
            <a:off x="812800" y="1782607"/>
            <a:ext cx="4165600" cy="1630680"/>
          </a:xfrm>
          <a:prstGeom prst="rect">
            <a:avLst/>
          </a:prstGeom>
          <a:solidFill>
            <a:srgbClr val="12303F"/>
          </a:solidFill>
          <a:ln/>
        </p:spPr>
        <p:txBody>
          <a:bodyPr/>
          <a:lstStyle/>
          <a:p>
            <a:endParaRPr lang="pt-PT"/>
          </a:p>
        </p:txBody>
      </p:sp>
      <p:sp>
        <p:nvSpPr>
          <p:cNvPr id="6" name="Shape 3"/>
          <p:cNvSpPr/>
          <p:nvPr/>
        </p:nvSpPr>
        <p:spPr>
          <a:xfrm>
            <a:off x="831850" y="1782607"/>
            <a:ext cx="0" cy="1630680"/>
          </a:xfrm>
          <a:prstGeom prst="line">
            <a:avLst/>
          </a:prstGeom>
          <a:noFill/>
          <a:ln w="38100">
            <a:solidFill>
              <a:srgbClr val="B33A1A"/>
            </a:solidFill>
            <a:prstDash val="solid"/>
          </a:ln>
        </p:spPr>
        <p:txBody>
          <a:bodyPr/>
          <a:lstStyle/>
          <a:p>
            <a:endParaRPr lang="pt-PT"/>
          </a:p>
        </p:txBody>
      </p:sp>
      <p:sp>
        <p:nvSpPr>
          <p:cNvPr id="7" name="Text 4"/>
          <p:cNvSpPr/>
          <p:nvPr/>
        </p:nvSpPr>
        <p:spPr>
          <a:xfrm>
            <a:off x="1064260" y="1973107"/>
            <a:ext cx="380918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E0B4A2"/>
                </a:solidFill>
                <a:latin typeface="Oswald" pitchFamily="34" charset="0"/>
                <a:ea typeface="Oswald" pitchFamily="34" charset="-122"/>
                <a:cs typeface="Oswald" pitchFamily="34" charset="-120"/>
              </a:rPr>
              <a:t>LA TRAMPA DEL ARCHIVO</a:t>
            </a:r>
            <a:endParaRPr lang="en-US" sz="1500" dirty="0"/>
          </a:p>
        </p:txBody>
      </p:sp>
      <p:sp>
        <p:nvSpPr>
          <p:cNvPr id="8" name="Text 5"/>
          <p:cNvSpPr/>
          <p:nvPr/>
        </p:nvSpPr>
        <p:spPr>
          <a:xfrm>
            <a:off x="1064260" y="2265207"/>
            <a:ext cx="3809187" cy="98298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2EEE3"/>
                </a:solidFill>
                <a:latin typeface="IBM Plex Sans" pitchFamily="34" charset="0"/>
                <a:ea typeface="IBM Plex Sans" pitchFamily="34" charset="-122"/>
                <a:cs typeface="IBM Plex Sans" pitchFamily="34" charset="-120"/>
              </a:rPr>
              <a:t>Solo guarda dónde hubo ataques: un destino sin ataques no aparece con un cero, no aparece. Por eso fijamos 22 destinos y forzamos el cero con reindex.</a:t>
            </a:r>
            <a:endParaRPr lang="en-US" sz="1300" dirty="0"/>
          </a:p>
        </p:txBody>
      </p:sp>
      <p:sp>
        <p:nvSpPr>
          <p:cNvPr id="9" name="Shape 6"/>
          <p:cNvSpPr/>
          <p:nvPr/>
        </p:nvSpPr>
        <p:spPr>
          <a:xfrm>
            <a:off x="812800" y="3552986"/>
            <a:ext cx="4165600" cy="1478280"/>
          </a:xfrm>
          <a:prstGeom prst="rect">
            <a:avLst/>
          </a:prstGeom>
          <a:solidFill>
            <a:srgbClr val="F2EEE3"/>
          </a:solidFill>
          <a:ln/>
        </p:spPr>
        <p:txBody>
          <a:bodyPr/>
          <a:lstStyle/>
          <a:p>
            <a:endParaRPr lang="pt-PT"/>
          </a:p>
        </p:txBody>
      </p:sp>
      <p:sp>
        <p:nvSpPr>
          <p:cNvPr id="10" name="Shape 7"/>
          <p:cNvSpPr/>
          <p:nvPr/>
        </p:nvSpPr>
        <p:spPr>
          <a:xfrm>
            <a:off x="831850" y="3552986"/>
            <a:ext cx="0" cy="1478280"/>
          </a:xfrm>
          <a:prstGeom prst="line">
            <a:avLst/>
          </a:prstGeom>
          <a:noFill/>
          <a:ln w="38100">
            <a:solidFill>
              <a:srgbClr val="2E7D4F"/>
            </a:solidFill>
            <a:prstDash val="solid"/>
          </a:ln>
        </p:spPr>
        <p:txBody>
          <a:bodyPr/>
          <a:lstStyle/>
          <a:p>
            <a:endParaRPr lang="pt-PT"/>
          </a:p>
        </p:txBody>
      </p:sp>
      <p:sp>
        <p:nvSpPr>
          <p:cNvPr id="11" name="Text 8"/>
          <p:cNvSpPr/>
          <p:nvPr/>
        </p:nvSpPr>
        <p:spPr>
          <a:xfrm>
            <a:off x="1051560" y="3730786"/>
            <a:ext cx="3835349"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E7D4F"/>
                </a:solidFill>
                <a:latin typeface="Oswald" pitchFamily="34" charset="0"/>
                <a:ea typeface="Oswald" pitchFamily="34" charset="-122"/>
                <a:cs typeface="Oswald" pitchFamily="34" charset="-120"/>
              </a:rPr>
              <a:t>10 de 22</a:t>
            </a:r>
            <a:endParaRPr lang="en-US" sz="4800" dirty="0"/>
          </a:p>
        </p:txBody>
      </p:sp>
      <p:sp>
        <p:nvSpPr>
          <p:cNvPr id="12" name="Text 9"/>
          <p:cNvSpPr/>
          <p:nvPr/>
        </p:nvSpPr>
        <p:spPr>
          <a:xfrm>
            <a:off x="1051560" y="4391186"/>
            <a:ext cx="3835349"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5D6B"/>
                </a:solidFill>
                <a:latin typeface="IBM Plex Sans" pitchFamily="34" charset="0"/>
                <a:ea typeface="IBM Plex Sans" pitchFamily="34" charset="-122"/>
                <a:cs typeface="IBM Plex Sans" pitchFamily="34" charset="-120"/>
              </a:rPr>
              <a:t>destinos sin ningún ataque registrado a surfistas en el bloque 2002-2026</a:t>
            </a:r>
            <a:endParaRPr lang="en-US" sz="1300" dirty="0"/>
          </a:p>
        </p:txBody>
      </p:sp>
      <p:sp>
        <p:nvSpPr>
          <p:cNvPr id="13" name="Text 10"/>
          <p:cNvSpPr/>
          <p:nvPr/>
        </p:nvSpPr>
        <p:spPr>
          <a:xfrm>
            <a:off x="812800" y="5170965"/>
            <a:ext cx="4290568" cy="504190"/>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3F5D6B"/>
                </a:solidFill>
                <a:latin typeface="IBM Plex Sans" pitchFamily="34" charset="0"/>
                <a:ea typeface="IBM Plex Sans" pitchFamily="34" charset="-122"/>
                <a:cs typeface="IBM Plex Sans" pitchFamily="34" charset="-120"/>
              </a:rPr>
              <a:t>Portugal, Francia, Marruecos, Perú, Nicaragua y Sri Lanka</a:t>
            </a:r>
            <a:r>
              <a:rPr lang="en-US" sz="1300" dirty="0">
                <a:solidFill>
                  <a:srgbClr val="3F5D6B"/>
                </a:solidFill>
                <a:latin typeface="IBM Plex Sans" pitchFamily="34" charset="0"/>
                <a:ea typeface="IBM Plex Sans" pitchFamily="34" charset="-122"/>
                <a:cs typeface="IBM Plex Sans" pitchFamily="34" charset="-120"/>
              </a:rPr>
              <a:t> tampoco registran ninguno desde 1950.</a:t>
            </a:r>
            <a:endParaRPr lang="en-US" sz="1300" dirty="0"/>
          </a:p>
        </p:txBody>
      </p:sp>
      <p:pic>
        <p:nvPicPr>
          <p:cNvPr id="14" name="Image 1" descr="Ataques a surfistas por destino, 2002-2026: diez destinos a cero (Portugal, Francia, Marruecos, Nicaragua, Perú, Chile, El Salvador, Filipinas, Sri Lanka, Maldivas); Panamá 1, España 1, Fiyi 2, Costa Rica 4, Ecuador 4, México 7, Indonesia 7, Nueva Zelanda 14, Brasil 17, Sudáfrica 62, Australia 233, EE. UU. 531"/>
          <p:cNvPicPr>
            <a:picLocks noChangeAspect="1"/>
          </p:cNvPicPr>
          <p:nvPr/>
        </p:nvPicPr>
        <p:blipFill>
          <a:blip r:embed="rId4"/>
          <a:srcRect l="-17" r="-17"/>
          <a:stretch/>
        </p:blipFill>
        <p:spPr>
          <a:xfrm>
            <a:off x="5283200" y="1547732"/>
            <a:ext cx="6096000" cy="4337050"/>
          </a:xfrm>
          <a:prstGeom prst="rect">
            <a:avLst/>
          </a:prstGeom>
        </p:spPr>
      </p:pic>
      <p:sp>
        <p:nvSpPr>
          <p:cNvPr id="15" name="Text 11"/>
          <p:cNvSpPr/>
          <p:nvPr/>
        </p:nvSpPr>
        <p:spPr>
          <a:xfrm>
            <a:off x="812800" y="6238242"/>
            <a:ext cx="65243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B8B92"/>
                </a:solidFill>
                <a:latin typeface="IBM Plex Sans" pitchFamily="34" charset="0"/>
                <a:ea typeface="IBM Plex Sans" pitchFamily="34" charset="-122"/>
                <a:cs typeface="IBM Plex Sans" pitchFamily="34" charset="-120"/>
              </a:rPr>
              <a:t>Surfistas, no provocados, 2002-2026 · un cero significa sin ataques registrados, no sin riesgo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E8E2D2"/>
        </a:solidFill>
        <a:effectLst/>
      </p:bgPr>
    </p:bg>
    <p:spTree>
      <p:nvGrpSpPr>
        <p:cNvPr id="1" name=""/>
        <p:cNvGrpSpPr/>
        <p:nvPr/>
      </p:nvGrpSpPr>
      <p:grpSpPr>
        <a:xfrm>
          <a:off x="0" y="0"/>
          <a:ext cx="0" cy="0"/>
          <a:chOff x="0" y="0"/>
          <a:chExt cx="0" cy="0"/>
        </a:xfrm>
      </p:grpSpPr>
      <p:sp>
        <p:nvSpPr>
          <p:cNvPr id="2" name="Text 2"/>
          <p:cNvSpPr txBox="1"/>
          <p:nvPr/>
        </p:nvSpPr>
        <p:spPr>
          <a:xfrm>
            <a:off x="812800" y="801768"/>
            <a:ext cx="8600000" cy="585470"/>
          </a:xfrm>
          <a:prstGeom prst="rect">
            <a:avLst/>
          </a:prstGeom>
          <a:noFill/>
          <a:ln/>
        </p:spPr>
        <p:txBody>
          <a:bodyPr wrap="square" lIns="0" tIns="0" rIns="0" bIns="0" rtlCol="0" anchor="t">
            <a:noAutofit/>
          </a:bodyPr>
          <a:lstStyle/>
          <a:p>
            <a:pPr marL="0" indent="0" algn="l">
              <a:lnSpc>
                <a:spcPts val="4410"/>
              </a:lnSpc>
              <a:buNone/>
            </a:pPr>
            <a:r>
              <a:rPr lang="es-ES" sz="4200" b="1" dirty="0">
                <a:solidFill>
                  <a:srgbClr val="12303F"/>
                </a:solidFill>
                <a:latin typeface="Oswald" pitchFamily="34" charset="0"/>
                <a:ea typeface="Oswald" pitchFamily="34" charset="-122"/>
                <a:cs typeface="Oswald" pitchFamily="34" charset="-120"/>
              </a:rPr>
              <a:t>Ficha de destino</a:t>
            </a:r>
            <a:endParaRPr lang="es-ES" sz="4200" dirty="0"/>
          </a:p>
        </p:txBody>
      </p:sp>
      <p:sp>
        <p:nvSpPr>
          <p:cNvPr id="3" name="Text 3"/>
          <p:cNvSpPr txBox="1"/>
          <p:nvPr/>
        </p:nvSpPr>
        <p:spPr>
          <a:xfrm>
            <a:off x="812800" y="1400000"/>
            <a:ext cx="10500000" cy="300000"/>
          </a:xfrm>
          <a:prstGeom prst="rect">
            <a:avLst/>
          </a:prstGeom>
          <a:noFill/>
          <a:ln/>
        </p:spPr>
        <p:txBody>
          <a:bodyPr wrap="square" lIns="0" tIns="0" rIns="0" bIns="0" rtlCol="0" anchor="t">
            <a:noAutofit/>
          </a:bodyPr>
          <a:lstStyle/>
          <a:p>
            <a:pPr marL="0" indent="0" algn="l">
              <a:lnSpc>
                <a:spcPts val="2000"/>
              </a:lnSpc>
              <a:buNone/>
            </a:pPr>
            <a:r>
              <a:rPr lang="es-ES" sz="1500" dirty="0">
                <a:solidFill>
                  <a:srgbClr val="5B7480"/>
                </a:solidFill>
                <a:latin typeface="IBM Plex Sans" pitchFamily="34" charset="0"/>
                <a:ea typeface="IBM Plex Sans" pitchFamily="34" charset="-122"/>
                <a:cs typeface="IBM Plex Sans" pitchFamily="34" charset="-120"/>
              </a:rPr>
              <a:t>El entregable que se lleva la escuela: un destino, una bandera, un protocolo</a:t>
            </a:r>
            <a:endParaRPr lang="es-ES" sz="1500" dirty="0"/>
          </a:p>
        </p:txBody>
      </p:sp>
      <p:sp>
        <p:nvSpPr>
          <p:cNvPr id="10" name="Shape 10"/>
          <p:cNvSpPr/>
          <p:nvPr/>
        </p:nvSpPr>
        <p:spPr>
          <a:xfrm>
            <a:off x="812800" y="1900000"/>
            <a:ext cx="5130000" cy="4150000"/>
          </a:xfrm>
          <a:prstGeom prst="rect">
            <a:avLst/>
          </a:prstGeom>
          <a:solidFill>
            <a:srgbClr val="F2EEE3"/>
          </a:solidFill>
          <a:ln/>
        </p:spPr>
        <p:txBody>
          <a:bodyPr/>
          <a:lstStyle/>
          <a:p>
            <a:endParaRPr lang="pt-PT"/>
          </a:p>
        </p:txBody>
      </p:sp>
      <p:sp>
        <p:nvSpPr>
          <p:cNvPr id="11" name="Shape 11"/>
          <p:cNvSpPr/>
          <p:nvPr/>
        </p:nvSpPr>
        <p:spPr>
          <a:xfrm>
            <a:off x="1042800" y="2150000"/>
            <a:ext cx="150000" cy="210000"/>
          </a:xfrm>
          <a:prstGeom prst="rect">
            <a:avLst/>
          </a:prstGeom>
          <a:solidFill>
            <a:srgbClr val="B33A1A"/>
          </a:solidFill>
          <a:ln/>
        </p:spPr>
        <p:txBody>
          <a:bodyPr/>
          <a:lstStyle/>
          <a:p>
            <a:endParaRPr lang="pt-PT"/>
          </a:p>
        </p:txBody>
      </p:sp>
      <p:sp>
        <p:nvSpPr>
          <p:cNvPr id="12" name="Text 12"/>
          <p:cNvSpPr txBox="1"/>
          <p:nvPr/>
        </p:nvSpPr>
        <p:spPr>
          <a:xfrm>
            <a:off x="1272800" y="2130000"/>
            <a:ext cx="4300000" cy="260000"/>
          </a:xfrm>
          <a:prstGeom prst="rect">
            <a:avLst/>
          </a:prstGeom>
          <a:noFill/>
          <a:ln/>
        </p:spPr>
        <p:txBody>
          <a:bodyPr wrap="square" lIns="0" tIns="0" rIns="0" bIns="0" rtlCol="0" anchor="t">
            <a:noAutofit/>
          </a:bodyPr>
          <a:lstStyle/>
          <a:p>
            <a:pPr marL="0" indent="0" algn="l">
              <a:lnSpc>
                <a:spcPts val="1700"/>
              </a:lnSpc>
              <a:buNone/>
            </a:pPr>
            <a:r>
              <a:rPr lang="es-ES" sz="1200" spc="150" dirty="0">
                <a:solidFill>
                  <a:srgbClr val="B33A1A"/>
                </a:solidFill>
                <a:latin typeface="Oswald" pitchFamily="34" charset="0"/>
                <a:ea typeface="Oswald" pitchFamily="34" charset="-122"/>
                <a:cs typeface="Oswald" pitchFamily="34" charset="-120"/>
              </a:rPr>
              <a:t>BANDERA ROJA</a:t>
            </a:r>
            <a:endParaRPr lang="es-ES" sz="1200" dirty="0"/>
          </a:p>
        </p:txBody>
      </p:sp>
      <p:sp>
        <p:nvSpPr>
          <p:cNvPr id="13" name="Text 13"/>
          <p:cNvSpPr txBox="1"/>
          <p:nvPr/>
        </p:nvSpPr>
        <p:spPr>
          <a:xfrm>
            <a:off x="1042800" y="2440000"/>
            <a:ext cx="4700000" cy="560000"/>
          </a:xfrm>
          <a:prstGeom prst="rect">
            <a:avLst/>
          </a:prstGeom>
          <a:noFill/>
          <a:ln/>
        </p:spPr>
        <p:txBody>
          <a:bodyPr wrap="square" lIns="0" tIns="0" rIns="0" bIns="0" rtlCol="0" anchor="t">
            <a:noAutofit/>
          </a:bodyPr>
          <a:lstStyle/>
          <a:p>
            <a:pPr marL="0" indent="0" algn="l">
              <a:lnSpc>
                <a:spcPts val="3200"/>
              </a:lnSpc>
              <a:buNone/>
            </a:pPr>
            <a:r>
              <a:rPr lang="es-ES" sz="2800" b="1" dirty="0">
                <a:solidFill>
                  <a:srgbClr val="12303F"/>
                </a:solidFill>
                <a:latin typeface="Oswald" pitchFamily="34" charset="0"/>
                <a:ea typeface="Oswald" pitchFamily="34" charset="-122"/>
                <a:cs typeface="Oswald" pitchFamily="34" charset="-120"/>
              </a:rPr>
              <a:t>Florida</a:t>
            </a:r>
            <a:endParaRPr lang="es-ES" sz="2800" dirty="0"/>
          </a:p>
        </p:txBody>
      </p:sp>
      <p:sp>
        <p:nvSpPr>
          <p:cNvPr id="14" name="Text 14"/>
          <p:cNvSpPr txBox="1"/>
          <p:nvPr/>
        </p:nvSpPr>
        <p:spPr>
          <a:xfrm>
            <a:off x="1042800" y="3100000"/>
            <a:ext cx="4680000" cy="2850000"/>
          </a:xfrm>
          <a:prstGeom prst="rect">
            <a:avLst/>
          </a:prstGeom>
          <a:noFill/>
          <a:ln/>
        </p:spPr>
        <p:txBody>
          <a:bodyPr wrap="square" lIns="0" tIns="0" rIns="0" bIns="0" rtlCol="0" anchor="t">
            <a:noAutofit/>
          </a:bodyPr>
          <a:lstStyle/>
          <a:p>
            <a:pPr marL="0" indent="0" algn="l">
              <a:lnSpc>
                <a:spcPts val="1400"/>
              </a:lnSpc>
              <a:buNone/>
            </a:pPr>
            <a:r>
              <a:rPr lang="es-ES" sz="1000" spc="120" dirty="0">
                <a:solidFill>
                  <a:srgbClr val="5B7480"/>
                </a:solidFill>
                <a:latin typeface="Oswald" pitchFamily="34" charset="0"/>
                <a:ea typeface="Oswald" pitchFamily="34" charset="-122"/>
                <a:cs typeface="Oswald" pitchFamily="34" charset="-120"/>
              </a:rPr>
              <a:t>ATAQUES A SURFISTAS DESDE 1950</a:t>
            </a:r>
            <a:endParaRPr lang="es-ES" sz="1000" dirty="0"/>
          </a:p>
          <a:p>
            <a:pPr marL="0" indent="0" algn="l">
              <a:lnSpc>
                <a:spcPts val="1750"/>
              </a:lnSpc>
              <a:spcAft>
                <a:spcPts val="900"/>
              </a:spcAft>
              <a:buNone/>
            </a:pPr>
            <a:r>
              <a:rPr lang="es-ES" sz="1300" b="1" dirty="0">
                <a:solidFill>
                  <a:srgbClr val="12303F"/>
                </a:solidFill>
                <a:latin typeface="IBM Plex Sans" pitchFamily="34" charset="0"/>
                <a:ea typeface="IBM Plex Sans" pitchFamily="34" charset="-122"/>
                <a:cs typeface="IBM Plex Sans" pitchFamily="34" charset="-120"/>
              </a:rPr>
              <a:t>498</a:t>
            </a:r>
            <a:r>
              <a:rPr lang="es-ES" sz="1300" dirty="0">
                <a:solidFill>
                  <a:srgbClr val="12303F"/>
                </a:solidFill>
                <a:latin typeface="IBM Plex Sans" pitchFamily="34" charset="0"/>
                <a:ea typeface="IBM Plex Sans" pitchFamily="34" charset="-122"/>
                <a:cs typeface="IBM Plex Sans" pitchFamily="34" charset="-120"/>
              </a:rPr>
              <a:t>, el 32,9% del mundo</a:t>
            </a:r>
            <a:endParaRPr lang="es-ES" sz="1300" dirty="0"/>
          </a:p>
          <a:p>
            <a:pPr marL="0" indent="0" algn="l">
              <a:lnSpc>
                <a:spcPts val="1400"/>
              </a:lnSpc>
              <a:buNone/>
            </a:pPr>
            <a:r>
              <a:rPr lang="es-ES" sz="1000" spc="120" dirty="0">
                <a:solidFill>
                  <a:srgbClr val="5B7480"/>
                </a:solidFill>
                <a:latin typeface="Oswald" pitchFamily="34" charset="0"/>
                <a:ea typeface="Oswald" pitchFamily="34" charset="-122"/>
                <a:cs typeface="Oswald" pitchFamily="34" charset="-120"/>
              </a:rPr>
              <a:t>PLAYA CRÍTICA</a:t>
            </a:r>
            <a:endParaRPr lang="es-ES" sz="1000" dirty="0"/>
          </a:p>
          <a:p>
            <a:pPr marL="0" indent="0" algn="l">
              <a:lnSpc>
                <a:spcPts val="1750"/>
              </a:lnSpc>
              <a:spcAft>
                <a:spcPts val="900"/>
              </a:spcAft>
              <a:buNone/>
            </a:pPr>
            <a:r>
              <a:rPr lang="es-ES" sz="1300" b="1" dirty="0">
                <a:solidFill>
                  <a:srgbClr val="12303F"/>
                </a:solidFill>
                <a:latin typeface="IBM Plex Sans" pitchFamily="34" charset="0"/>
                <a:ea typeface="IBM Plex Sans" pitchFamily="34" charset="-122"/>
                <a:cs typeface="IBM Plex Sans" pitchFamily="34" charset="-120"/>
              </a:rPr>
              <a:t>New Smyrna Beach</a:t>
            </a:r>
            <a:r>
              <a:rPr lang="es-ES" sz="1300" dirty="0">
                <a:solidFill>
                  <a:srgbClr val="12303F"/>
                </a:solidFill>
                <a:latin typeface="IBM Plex Sans" pitchFamily="34" charset="0"/>
                <a:ea typeface="IBM Plex Sans" pitchFamily="34" charset="-122"/>
                <a:cs typeface="IBM Plex Sans" pitchFamily="34" charset="-120"/>
              </a:rPr>
              <a:t>, al menos 191 registros</a:t>
            </a:r>
            <a:endParaRPr lang="es-ES" sz="1300" dirty="0"/>
          </a:p>
          <a:p>
            <a:pPr marL="0" indent="0" algn="l">
              <a:lnSpc>
                <a:spcPts val="1400"/>
              </a:lnSpc>
              <a:buNone/>
            </a:pPr>
            <a:r>
              <a:rPr lang="es-ES" sz="1000" spc="120" dirty="0">
                <a:solidFill>
                  <a:srgbClr val="5B7480"/>
                </a:solidFill>
                <a:latin typeface="Oswald" pitchFamily="34" charset="0"/>
                <a:ea typeface="Oswald" pitchFamily="34" charset="-122"/>
                <a:cs typeface="Oswald" pitchFamily="34" charset="-120"/>
              </a:rPr>
              <a:t>ESTACIÓN A VIGILAR</a:t>
            </a:r>
            <a:endParaRPr lang="es-ES" sz="1000" dirty="0"/>
          </a:p>
          <a:p>
            <a:pPr marL="0" indent="0" algn="l">
              <a:lnSpc>
                <a:spcPts val="1750"/>
              </a:lnSpc>
              <a:spcAft>
                <a:spcPts val="900"/>
              </a:spcAft>
              <a:buNone/>
            </a:pPr>
            <a:r>
              <a:rPr lang="es-ES" sz="1300" b="1" dirty="0">
                <a:solidFill>
                  <a:srgbClr val="12303F"/>
                </a:solidFill>
                <a:latin typeface="IBM Plex Sans" pitchFamily="34" charset="0"/>
                <a:ea typeface="IBM Plex Sans" pitchFamily="34" charset="-122"/>
                <a:cs typeface="IBM Plex Sans" pitchFamily="34" charset="-120"/>
              </a:rPr>
              <a:t>Otoño</a:t>
            </a:r>
            <a:r>
              <a:rPr lang="es-ES" sz="1300" dirty="0">
                <a:solidFill>
                  <a:srgbClr val="12303F"/>
                </a:solidFill>
                <a:latin typeface="IBM Plex Sans" pitchFamily="34" charset="0"/>
                <a:ea typeface="IBM Plex Sans" pitchFamily="34" charset="-122"/>
                <a:cs typeface="IBM Plex Sans" pitchFamily="34" charset="-120"/>
              </a:rPr>
              <a:t>, 41% de los casos (base 492)</a:t>
            </a:r>
            <a:endParaRPr lang="es-ES" sz="1300" dirty="0"/>
          </a:p>
          <a:p>
            <a:pPr marL="0" indent="0" algn="l">
              <a:lnSpc>
                <a:spcPts val="1400"/>
              </a:lnSpc>
              <a:buNone/>
            </a:pPr>
            <a:r>
              <a:rPr lang="es-ES" sz="1000" spc="120" dirty="0">
                <a:solidFill>
                  <a:srgbClr val="5B7480"/>
                </a:solidFill>
                <a:latin typeface="Oswald" pitchFamily="34" charset="0"/>
                <a:ea typeface="Oswald" pitchFamily="34" charset="-122"/>
                <a:cs typeface="Oswald" pitchFamily="34" charset="-120"/>
              </a:rPr>
              <a:t>PERFIL</a:t>
            </a:r>
            <a:endParaRPr lang="es-ES" sz="1000" dirty="0"/>
          </a:p>
          <a:p>
            <a:pPr marL="0" indent="0" algn="l">
              <a:lnSpc>
                <a:spcPts val="1750"/>
              </a:lnSpc>
              <a:spcAft>
                <a:spcPts val="900"/>
              </a:spcAft>
              <a:buNone/>
            </a:pPr>
            <a:r>
              <a:rPr lang="es-ES" sz="1300" dirty="0">
                <a:solidFill>
                  <a:srgbClr val="12303F"/>
                </a:solidFill>
                <a:latin typeface="IBM Plex Sans" pitchFamily="34" charset="0"/>
                <a:ea typeface="IBM Plex Sans" pitchFamily="34" charset="-122"/>
                <a:cs typeface="IBM Plex Sans" pitchFamily="34" charset="-120"/>
              </a:rPr>
              <a:t>Media de 24,4 años en hombres; víctimas desde los 6</a:t>
            </a:r>
            <a:endParaRPr lang="es-ES" sz="1300" dirty="0"/>
          </a:p>
          <a:p>
            <a:pPr marL="0" indent="0" algn="l">
              <a:lnSpc>
                <a:spcPts val="1400"/>
              </a:lnSpc>
              <a:buNone/>
            </a:pPr>
            <a:r>
              <a:rPr lang="es-ES" sz="1000" spc="120" dirty="0">
                <a:solidFill>
                  <a:srgbClr val="5B7480"/>
                </a:solidFill>
                <a:latin typeface="Oswald" pitchFamily="34" charset="0"/>
                <a:ea typeface="Oswald" pitchFamily="34" charset="-122"/>
                <a:cs typeface="Oswald" pitchFamily="34" charset="-120"/>
              </a:rPr>
              <a:t>PROTOCOLO</a:t>
            </a:r>
            <a:endParaRPr lang="es-ES" sz="1000" dirty="0"/>
          </a:p>
          <a:p>
            <a:pPr marL="0" indent="0" algn="l">
              <a:lnSpc>
                <a:spcPts val="1750"/>
              </a:lnSpc>
              <a:spcAft>
                <a:spcPts val="900"/>
              </a:spcAft>
              <a:buNone/>
            </a:pPr>
            <a:r>
              <a:rPr lang="es-ES" sz="1300" dirty="0">
                <a:solidFill>
                  <a:srgbClr val="12303F"/>
                </a:solidFill>
                <a:latin typeface="IBM Plex Sans" pitchFamily="34" charset="0"/>
                <a:ea typeface="IBM Plex Sans" pitchFamily="34" charset="-122"/>
                <a:cs typeface="IBM Plex Sans" pitchFamily="34" charset="-120"/>
              </a:rPr>
              <a:t>Reforzado todo el año, más en otoño; grupos infantiles con ratio estricto</a:t>
            </a:r>
            <a:endParaRPr lang="es-ES" sz="1300" dirty="0"/>
          </a:p>
        </p:txBody>
      </p:sp>
      <p:sp>
        <p:nvSpPr>
          <p:cNvPr id="30" name="Shape 30"/>
          <p:cNvSpPr/>
          <p:nvPr/>
        </p:nvSpPr>
        <p:spPr>
          <a:xfrm>
            <a:off x="6248400" y="1900000"/>
            <a:ext cx="5130000" cy="4150000"/>
          </a:xfrm>
          <a:prstGeom prst="rect">
            <a:avLst/>
          </a:prstGeom>
          <a:solidFill>
            <a:srgbClr val="F2EEE3"/>
          </a:solidFill>
          <a:ln/>
        </p:spPr>
        <p:txBody>
          <a:bodyPr/>
          <a:lstStyle/>
          <a:p>
            <a:endParaRPr lang="pt-PT"/>
          </a:p>
        </p:txBody>
      </p:sp>
      <p:sp>
        <p:nvSpPr>
          <p:cNvPr id="31" name="Shape 31"/>
          <p:cNvSpPr/>
          <p:nvPr/>
        </p:nvSpPr>
        <p:spPr>
          <a:xfrm>
            <a:off x="6478400" y="2150000"/>
            <a:ext cx="150000" cy="210000"/>
          </a:xfrm>
          <a:prstGeom prst="rect">
            <a:avLst/>
          </a:prstGeom>
          <a:solidFill>
            <a:srgbClr val="2E7D4F"/>
          </a:solidFill>
          <a:ln/>
        </p:spPr>
        <p:txBody>
          <a:bodyPr/>
          <a:lstStyle/>
          <a:p>
            <a:endParaRPr lang="pt-PT"/>
          </a:p>
        </p:txBody>
      </p:sp>
      <p:sp>
        <p:nvSpPr>
          <p:cNvPr id="32" name="Text 32"/>
          <p:cNvSpPr txBox="1"/>
          <p:nvPr/>
        </p:nvSpPr>
        <p:spPr>
          <a:xfrm>
            <a:off x="6708400" y="2130000"/>
            <a:ext cx="4300000" cy="260000"/>
          </a:xfrm>
          <a:prstGeom prst="rect">
            <a:avLst/>
          </a:prstGeom>
          <a:noFill/>
          <a:ln/>
        </p:spPr>
        <p:txBody>
          <a:bodyPr wrap="square" lIns="0" tIns="0" rIns="0" bIns="0" rtlCol="0" anchor="t">
            <a:noAutofit/>
          </a:bodyPr>
          <a:lstStyle/>
          <a:p>
            <a:pPr marL="0" indent="0" algn="l">
              <a:lnSpc>
                <a:spcPts val="1700"/>
              </a:lnSpc>
              <a:buNone/>
            </a:pPr>
            <a:r>
              <a:rPr lang="es-ES" sz="1200" spc="150" dirty="0">
                <a:solidFill>
                  <a:srgbClr val="2E7D4F"/>
                </a:solidFill>
                <a:latin typeface="Oswald" pitchFamily="34" charset="0"/>
                <a:ea typeface="Oswald" pitchFamily="34" charset="-122"/>
                <a:cs typeface="Oswald" pitchFamily="34" charset="-120"/>
              </a:rPr>
              <a:t>BANDERA VERDE</a:t>
            </a:r>
            <a:endParaRPr lang="es-ES" sz="1200" dirty="0"/>
          </a:p>
        </p:txBody>
      </p:sp>
      <p:sp>
        <p:nvSpPr>
          <p:cNvPr id="33" name="Text 33"/>
          <p:cNvSpPr txBox="1"/>
          <p:nvPr/>
        </p:nvSpPr>
        <p:spPr>
          <a:xfrm>
            <a:off x="6478400" y="2440000"/>
            <a:ext cx="4700000" cy="560000"/>
          </a:xfrm>
          <a:prstGeom prst="rect">
            <a:avLst/>
          </a:prstGeom>
          <a:noFill/>
          <a:ln/>
        </p:spPr>
        <p:txBody>
          <a:bodyPr wrap="square" lIns="0" tIns="0" rIns="0" bIns="0" rtlCol="0" anchor="t">
            <a:noAutofit/>
          </a:bodyPr>
          <a:lstStyle/>
          <a:p>
            <a:pPr marL="0" indent="0" algn="l">
              <a:lnSpc>
                <a:spcPts val="3200"/>
              </a:lnSpc>
              <a:buNone/>
            </a:pPr>
            <a:r>
              <a:rPr lang="es-ES" sz="2800" b="1" dirty="0">
                <a:solidFill>
                  <a:srgbClr val="12303F"/>
                </a:solidFill>
                <a:latin typeface="Oswald" pitchFamily="34" charset="0"/>
                <a:ea typeface="Oswald" pitchFamily="34" charset="-122"/>
                <a:cs typeface="Oswald" pitchFamily="34" charset="-120"/>
              </a:rPr>
              <a:t>Portugal</a:t>
            </a:r>
            <a:endParaRPr lang="es-ES" sz="2800" dirty="0"/>
          </a:p>
        </p:txBody>
      </p:sp>
      <p:sp>
        <p:nvSpPr>
          <p:cNvPr id="34" name="Text 34"/>
          <p:cNvSpPr txBox="1"/>
          <p:nvPr/>
        </p:nvSpPr>
        <p:spPr>
          <a:xfrm>
            <a:off x="6478400" y="3100000"/>
            <a:ext cx="4680000" cy="2850000"/>
          </a:xfrm>
          <a:prstGeom prst="rect">
            <a:avLst/>
          </a:prstGeom>
          <a:noFill/>
          <a:ln/>
        </p:spPr>
        <p:txBody>
          <a:bodyPr wrap="square" lIns="0" tIns="0" rIns="0" bIns="0" rtlCol="0" anchor="t">
            <a:noAutofit/>
          </a:bodyPr>
          <a:lstStyle/>
          <a:p>
            <a:pPr marL="0" indent="0" algn="l">
              <a:lnSpc>
                <a:spcPts val="1400"/>
              </a:lnSpc>
              <a:buNone/>
            </a:pPr>
            <a:r>
              <a:rPr lang="es-ES" sz="1000" spc="120" dirty="0">
                <a:solidFill>
                  <a:srgbClr val="5B7480"/>
                </a:solidFill>
                <a:latin typeface="Oswald" pitchFamily="34" charset="0"/>
                <a:ea typeface="Oswald" pitchFamily="34" charset="-122"/>
                <a:cs typeface="Oswald" pitchFamily="34" charset="-120"/>
              </a:rPr>
              <a:t>ATAQUES A SURFISTAS 2002-2026</a:t>
            </a:r>
            <a:endParaRPr lang="es-ES" sz="1000" dirty="0"/>
          </a:p>
          <a:p>
            <a:pPr marL="0" indent="0" algn="l">
              <a:lnSpc>
                <a:spcPts val="1750"/>
              </a:lnSpc>
              <a:spcAft>
                <a:spcPts val="900"/>
              </a:spcAft>
              <a:buNone/>
            </a:pPr>
            <a:r>
              <a:rPr lang="es-ES" sz="1300" b="1" dirty="0">
                <a:solidFill>
                  <a:srgbClr val="12303F"/>
                </a:solidFill>
                <a:latin typeface="IBM Plex Sans" pitchFamily="34" charset="0"/>
                <a:ea typeface="IBM Plex Sans" pitchFamily="34" charset="-122"/>
                <a:cs typeface="IBM Plex Sans" pitchFamily="34" charset="-120"/>
              </a:rPr>
              <a:t>0</a:t>
            </a:r>
            <a:endParaRPr lang="es-ES" sz="1300" dirty="0"/>
          </a:p>
          <a:p>
            <a:pPr marL="0" indent="0" algn="l">
              <a:lnSpc>
                <a:spcPts val="1400"/>
              </a:lnSpc>
              <a:buNone/>
            </a:pPr>
            <a:r>
              <a:rPr lang="es-ES" sz="1000" spc="120" dirty="0">
                <a:solidFill>
                  <a:srgbClr val="5B7480"/>
                </a:solidFill>
                <a:latin typeface="Oswald" pitchFamily="34" charset="0"/>
                <a:ea typeface="Oswald" pitchFamily="34" charset="-122"/>
                <a:cs typeface="Oswald" pitchFamily="34" charset="-120"/>
              </a:rPr>
              <a:t>ATAQUES A SURFISTAS DESDE 1950</a:t>
            </a:r>
            <a:endParaRPr lang="es-ES" sz="1000" dirty="0"/>
          </a:p>
          <a:p>
            <a:pPr marL="0" indent="0" algn="l">
              <a:lnSpc>
                <a:spcPts val="1750"/>
              </a:lnSpc>
              <a:spcAft>
                <a:spcPts val="900"/>
              </a:spcAft>
              <a:buNone/>
            </a:pPr>
            <a:r>
              <a:rPr lang="es-ES" sz="1300" b="1" dirty="0">
                <a:solidFill>
                  <a:srgbClr val="12303F"/>
                </a:solidFill>
                <a:latin typeface="IBM Plex Sans" pitchFamily="34" charset="0"/>
                <a:ea typeface="IBM Plex Sans" pitchFamily="34" charset="-122"/>
                <a:cs typeface="IBM Plex Sans" pitchFamily="34" charset="-120"/>
              </a:rPr>
              <a:t>0</a:t>
            </a:r>
            <a:endParaRPr lang="es-ES" sz="1300" dirty="0"/>
          </a:p>
          <a:p>
            <a:pPr marL="0" indent="0" algn="l">
              <a:lnSpc>
                <a:spcPts val="1400"/>
              </a:lnSpc>
              <a:buNone/>
            </a:pPr>
            <a:r>
              <a:rPr lang="es-ES" sz="1000" spc="120" dirty="0">
                <a:solidFill>
                  <a:srgbClr val="5B7480"/>
                </a:solidFill>
                <a:latin typeface="Oswald" pitchFamily="34" charset="0"/>
                <a:ea typeface="Oswald" pitchFamily="34" charset="-122"/>
                <a:cs typeface="Oswald" pitchFamily="34" charset="-120"/>
              </a:rPr>
              <a:t>ESTACIÓN A VIGILAR</a:t>
            </a:r>
            <a:endParaRPr lang="es-ES" sz="1000" dirty="0"/>
          </a:p>
          <a:p>
            <a:pPr marL="0" indent="0" algn="l">
              <a:lnSpc>
                <a:spcPts val="1750"/>
              </a:lnSpc>
              <a:spcAft>
                <a:spcPts val="900"/>
              </a:spcAft>
              <a:buNone/>
            </a:pPr>
            <a:r>
              <a:rPr lang="es-ES" sz="1300" dirty="0">
                <a:solidFill>
                  <a:srgbClr val="12303F"/>
                </a:solidFill>
                <a:latin typeface="IBM Plex Sans" pitchFamily="34" charset="0"/>
                <a:ea typeface="IBM Plex Sans" pitchFamily="34" charset="-122"/>
                <a:cs typeface="IBM Plex Sans" pitchFamily="34" charset="-120"/>
              </a:rPr>
              <a:t>Sin casos que la definan</a:t>
            </a:r>
            <a:endParaRPr lang="es-ES" sz="1300" dirty="0"/>
          </a:p>
          <a:p>
            <a:pPr marL="0" indent="0" algn="l">
              <a:lnSpc>
                <a:spcPts val="1400"/>
              </a:lnSpc>
              <a:buNone/>
            </a:pPr>
            <a:r>
              <a:rPr lang="es-ES" sz="1000" spc="120" dirty="0">
                <a:solidFill>
                  <a:srgbClr val="5B7480"/>
                </a:solidFill>
                <a:latin typeface="Oswald" pitchFamily="34" charset="0"/>
                <a:ea typeface="Oswald" pitchFamily="34" charset="-122"/>
                <a:cs typeface="Oswald" pitchFamily="34" charset="-120"/>
              </a:rPr>
              <a:t>PERFIL</a:t>
            </a:r>
            <a:endParaRPr lang="es-ES" sz="1000" dirty="0"/>
          </a:p>
          <a:p>
            <a:pPr marL="0" indent="0" algn="l">
              <a:lnSpc>
                <a:spcPts val="1750"/>
              </a:lnSpc>
              <a:spcAft>
                <a:spcPts val="900"/>
              </a:spcAft>
              <a:buNone/>
            </a:pPr>
            <a:r>
              <a:rPr lang="es-ES" sz="1300" dirty="0">
                <a:solidFill>
                  <a:srgbClr val="12303F"/>
                </a:solidFill>
                <a:latin typeface="IBM Plex Sans" pitchFamily="34" charset="0"/>
                <a:ea typeface="IBM Plex Sans" pitchFamily="34" charset="-122"/>
                <a:cs typeface="IBM Plex Sans" pitchFamily="34" charset="-120"/>
              </a:rPr>
              <a:t>Sin casos</a:t>
            </a:r>
            <a:endParaRPr lang="es-ES" sz="1300" dirty="0"/>
          </a:p>
          <a:p>
            <a:pPr marL="0" indent="0" algn="l">
              <a:lnSpc>
                <a:spcPts val="1400"/>
              </a:lnSpc>
              <a:buNone/>
            </a:pPr>
            <a:r>
              <a:rPr lang="es-ES" sz="1000" spc="120" dirty="0">
                <a:solidFill>
                  <a:srgbClr val="5B7480"/>
                </a:solidFill>
                <a:latin typeface="Oswald" pitchFamily="34" charset="0"/>
                <a:ea typeface="Oswald" pitchFamily="34" charset="-122"/>
                <a:cs typeface="Oswald" pitchFamily="34" charset="-120"/>
              </a:rPr>
              <a:t>PROTOCOLO</a:t>
            </a:r>
            <a:endParaRPr lang="es-ES" sz="1000" dirty="0"/>
          </a:p>
          <a:p>
            <a:pPr marL="0" indent="0" algn="l">
              <a:lnSpc>
                <a:spcPts val="1750"/>
              </a:lnSpc>
              <a:spcAft>
                <a:spcPts val="900"/>
              </a:spcAft>
              <a:buNone/>
            </a:pPr>
            <a:r>
              <a:rPr lang="es-ES" sz="1300" dirty="0">
                <a:solidFill>
                  <a:srgbClr val="12303F"/>
                </a:solidFill>
                <a:latin typeface="IBM Plex Sans" pitchFamily="34" charset="0"/>
                <a:ea typeface="IBM Plex Sans" pitchFamily="34" charset="-122"/>
                <a:cs typeface="IBM Plex Sans" pitchFamily="34" charset="-120"/>
              </a:rPr>
              <a:t>Estándar de la escuela</a:t>
            </a:r>
            <a:endParaRPr lang="es-ES" sz="1300" dirty="0"/>
          </a:p>
        </p:txBody>
      </p:sp>
      <p:sp>
        <p:nvSpPr>
          <p:cNvPr id="60" name="Text 60"/>
          <p:cNvSpPr txBox="1"/>
          <p:nvPr/>
        </p:nvSpPr>
        <p:spPr>
          <a:xfrm>
            <a:off x="812800" y="6238242"/>
            <a:ext cx="10500000" cy="238760"/>
          </a:xfrm>
          <a:prstGeom prst="rect">
            <a:avLst/>
          </a:prstGeom>
          <a:noFill/>
          <a:ln/>
        </p:spPr>
        <p:txBody>
          <a:bodyPr wrap="square" lIns="0" tIns="0" rIns="0" bIns="0" rtlCol="0" anchor="t">
            <a:noAutofit/>
          </a:bodyPr>
          <a:lstStyle/>
          <a:p>
            <a:pPr marL="0" indent="0" algn="l">
              <a:lnSpc>
                <a:spcPts val="1680"/>
              </a:lnSpc>
              <a:buNone/>
            </a:pPr>
            <a:r>
              <a:rPr lang="es-ES" sz="1200" dirty="0">
                <a:solidFill>
                  <a:srgbClr val="7B8B92"/>
                </a:solidFill>
                <a:latin typeface="IBM Plex Sans" pitchFamily="34" charset="0"/>
                <a:ea typeface="IBM Plex Sans" pitchFamily="34" charset="-122"/>
                <a:cs typeface="IBM Plex Sans" pitchFamily="34" charset="-120"/>
              </a:rPr>
              <a:t>Surfistas, no provocados · un cero significa sin ataques registrados, no sin riesgo</a:t>
            </a:r>
            <a:endParaRPr lang="es-E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E8E2D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75231"/>
          </a:xfrm>
          <a:prstGeom prst="rect">
            <a:avLst/>
          </a:prstGeom>
          <a:noFill/>
          <a:ln/>
        </p:spPr>
        <p:txBody>
          <a:bodyPr wrap="square" lIns="0" tIns="0" rIns="0" bIns="0" rtlCol="0" anchor="t">
            <a:normAutofit/>
          </a:bodyPr>
          <a:lstStyle/>
          <a:p>
            <a:pPr marL="0" indent="0" algn="l">
              <a:lnSpc>
                <a:spcPts val="4369"/>
              </a:lnSpc>
              <a:buNone/>
            </a:pPr>
            <a:r>
              <a:rPr lang="en-US" sz="4161" b="1" dirty="0">
                <a:solidFill>
                  <a:srgbClr val="12303F"/>
                </a:solidFill>
                <a:latin typeface="Oswald" pitchFamily="34" charset="0"/>
                <a:ea typeface="Oswald" pitchFamily="34" charset="-122"/>
                <a:cs typeface="Oswald" pitchFamily="34" charset="-120"/>
              </a:rPr>
              <a:t>¿Para qué público?</a:t>
            </a:r>
            <a:endParaRPr lang="en-US" sz="4161" dirty="0"/>
          </a:p>
        </p:txBody>
      </p:sp>
      <p:sp>
        <p:nvSpPr>
          <p:cNvPr id="3" name="Text 1"/>
          <p:cNvSpPr/>
          <p:nvPr/>
        </p:nvSpPr>
        <p:spPr>
          <a:xfrm>
            <a:off x="812800" y="1438833"/>
            <a:ext cx="10883392" cy="304721"/>
          </a:xfrm>
          <a:prstGeom prst="rect">
            <a:avLst/>
          </a:prstGeom>
          <a:noFill/>
          <a:ln/>
        </p:spPr>
        <p:txBody>
          <a:bodyPr wrap="square" lIns="0" tIns="0" rIns="0" bIns="0" rtlCol="0" anchor="t">
            <a:normAutofit/>
          </a:bodyPr>
          <a:lstStyle/>
          <a:p>
            <a:pPr marL="0" indent="0" algn="l">
              <a:lnSpc>
                <a:spcPts val="2219"/>
              </a:lnSpc>
              <a:buNone/>
            </a:pPr>
            <a:r>
              <a:rPr lang="en-US" sz="1585" dirty="0">
                <a:solidFill>
                  <a:srgbClr val="5B7480"/>
                </a:solidFill>
                <a:latin typeface="IBM Plex Sans" pitchFamily="34" charset="0"/>
                <a:ea typeface="IBM Plex Sans" pitchFamily="34" charset="-122"/>
                <a:cs typeface="IBM Plex Sans" pitchFamily="34" charset="-120"/>
              </a:rPr>
              <a:t>Surfistas atacados en los 10 estados con más casos, 1950-2026</a:t>
            </a:r>
            <a:endParaRPr lang="en-US" sz="1585"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82312"/>
          <a:ext cx="6314440" cy="3925570"/>
        </p:xfrm>
        <a:graphic>
          <a:graphicData uri="http://schemas.openxmlformats.org/drawingml/2006/table">
            <a:tbl>
              <a:tblPr/>
              <a:tblGrid>
                <a:gridCol w="2525776">
                  <a:extLst>
                    <a:ext uri="{9D8B030D-6E8A-4147-A177-3AD203B41FA5}">
                      <a16:colId xmlns:a16="http://schemas.microsoft.com/office/drawing/2014/main" val="20000"/>
                    </a:ext>
                  </a:extLst>
                </a:gridCol>
                <a:gridCol w="1136599">
                  <a:extLst>
                    <a:ext uri="{9D8B030D-6E8A-4147-A177-3AD203B41FA5}">
                      <a16:colId xmlns:a16="http://schemas.microsoft.com/office/drawing/2014/main" val="20001"/>
                    </a:ext>
                  </a:extLst>
                </a:gridCol>
                <a:gridCol w="1515466">
                  <a:extLst>
                    <a:ext uri="{9D8B030D-6E8A-4147-A177-3AD203B41FA5}">
                      <a16:colId xmlns:a16="http://schemas.microsoft.com/office/drawing/2014/main" val="20002"/>
                    </a:ext>
                  </a:extLst>
                </a:gridCol>
                <a:gridCol w="1136599">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12303F"/>
                          </a:solidFill>
                          <a:latin typeface="IBM Plex Sans" pitchFamily="34" charset="0"/>
                          <a:ea typeface="IBM Plex Sans" pitchFamily="34" charset="-122"/>
                          <a:cs typeface="IBM Plex Sans" pitchFamily="34" charset="-120"/>
                        </a:rPr>
                        <a:t>Estado</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ACA89C"/>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ACA89C"/>
                      </a:solidFill>
                      <a:prstDash val="solid"/>
                      <a:round/>
                      <a:headEnd type="none" w="med" len="med"/>
                      <a:tailEnd type="none" w="med" len="med"/>
                    </a:lnB>
                    <a:solidFill>
                      <a:srgbClr val="D7D2C3"/>
                    </a:solidFill>
                  </a:tcPr>
                </a:tc>
                <a:tc>
                  <a:txBody>
                    <a:bodyPr/>
                    <a:lstStyle/>
                    <a:p>
                      <a:pPr marL="0" indent="0" algn="r">
                        <a:lnSpc>
                          <a:spcPts val="1820"/>
                        </a:lnSpc>
                        <a:buNone/>
                      </a:pPr>
                      <a:r>
                        <a:rPr lang="en-US" sz="1300" b="1" dirty="0">
                          <a:solidFill>
                            <a:srgbClr val="12303F"/>
                          </a:solidFill>
                          <a:latin typeface="IBM Plex Sans" pitchFamily="34" charset="0"/>
                          <a:ea typeface="IBM Plex Sans" pitchFamily="34" charset="-122"/>
                          <a:cs typeface="IBM Plex Sans" pitchFamily="34" charset="-120"/>
                        </a:rPr>
                        <a:t>Con edad</a:t>
                      </a:r>
                      <a:endParaRPr lang="en-US" sz="1300" dirty="0">
                        <a:latin typeface="IBM Plex Sans" charset="0"/>
                        <a:ea typeface="IBM Plex Sans" charset="0"/>
                        <a:cs typeface="IBM Plex Sans" charset="0"/>
                      </a:endParaRPr>
                    </a:p>
                  </a:txBody>
                  <a:tcPr marL="57785" marR="57785" marT="57785" marB="57785">
                    <a:lnL w="12700" cap="flat" cmpd="sng" algn="ctr">
                      <a:solidFill>
                        <a:srgbClr val="ACA89C"/>
                      </a:solidFill>
                      <a:prstDash val="solid"/>
                      <a:round/>
                      <a:headEnd type="none" w="med" len="med"/>
                      <a:tailEnd type="none" w="med" len="med"/>
                    </a:lnL>
                    <a:lnR w="12700" cap="flat" cmpd="sng" algn="ctr">
                      <a:solidFill>
                        <a:srgbClr val="ACA89C"/>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ACA89C"/>
                      </a:solidFill>
                      <a:prstDash val="solid"/>
                      <a:round/>
                      <a:headEnd type="none" w="med" len="med"/>
                      <a:tailEnd type="none" w="med" len="med"/>
                    </a:lnB>
                    <a:solidFill>
                      <a:srgbClr val="D7D2C3"/>
                    </a:solidFill>
                  </a:tcPr>
                </a:tc>
                <a:tc>
                  <a:txBody>
                    <a:bodyPr/>
                    <a:lstStyle/>
                    <a:p>
                      <a:pPr marL="0" indent="0" algn="r">
                        <a:lnSpc>
                          <a:spcPts val="1820"/>
                        </a:lnSpc>
                        <a:buNone/>
                      </a:pPr>
                      <a:r>
                        <a:rPr lang="en-US" sz="1300" b="1" dirty="0">
                          <a:solidFill>
                            <a:srgbClr val="12303F"/>
                          </a:solidFill>
                          <a:latin typeface="IBM Plex Sans" pitchFamily="34" charset="0"/>
                          <a:ea typeface="IBM Plex Sans" pitchFamily="34" charset="-122"/>
                          <a:cs typeface="IBM Plex Sans" pitchFamily="34" charset="-120"/>
                        </a:rPr>
                        <a:t>Media hombres</a:t>
                      </a:r>
                      <a:endParaRPr lang="en-US" sz="1300" dirty="0">
                        <a:latin typeface="IBM Plex Sans" charset="0"/>
                        <a:ea typeface="IBM Plex Sans" charset="0"/>
                        <a:cs typeface="IBM Plex Sans" charset="0"/>
                      </a:endParaRPr>
                    </a:p>
                  </a:txBody>
                  <a:tcPr marL="57785" marR="57785" marT="57785" marB="57785">
                    <a:lnL w="12700" cap="flat" cmpd="sng" algn="ctr">
                      <a:solidFill>
                        <a:srgbClr val="ACA89C"/>
                      </a:solidFill>
                      <a:prstDash val="solid"/>
                      <a:round/>
                      <a:headEnd type="none" w="med" len="med"/>
                      <a:tailEnd type="none" w="med" len="med"/>
                    </a:lnL>
                    <a:lnR w="12700" cap="flat" cmpd="sng" algn="ctr">
                      <a:solidFill>
                        <a:srgbClr val="ACA89C"/>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ACA89C"/>
                      </a:solidFill>
                      <a:prstDash val="solid"/>
                      <a:round/>
                      <a:headEnd type="none" w="med" len="med"/>
                      <a:tailEnd type="none" w="med" len="med"/>
                    </a:lnB>
                    <a:solidFill>
                      <a:srgbClr val="D7D2C3"/>
                    </a:solidFill>
                  </a:tcPr>
                </a:tc>
                <a:tc>
                  <a:txBody>
                    <a:bodyPr/>
                    <a:lstStyle/>
                    <a:p>
                      <a:pPr marL="0" indent="0" algn="r">
                        <a:lnSpc>
                          <a:spcPts val="1820"/>
                        </a:lnSpc>
                        <a:buNone/>
                      </a:pPr>
                      <a:r>
                        <a:rPr lang="en-US" sz="1300" b="1" dirty="0">
                          <a:solidFill>
                            <a:srgbClr val="12303F"/>
                          </a:solidFill>
                          <a:latin typeface="IBM Plex Sans" pitchFamily="34" charset="0"/>
                          <a:ea typeface="IBM Plex Sans" pitchFamily="34" charset="-122"/>
                          <a:cs typeface="IBM Plex Sans" pitchFamily="34" charset="-120"/>
                        </a:rPr>
                        <a:t>Más joven</a:t>
                      </a:r>
                      <a:endParaRPr lang="en-US" sz="1300" dirty="0">
                        <a:latin typeface="IBM Plex Sans" charset="0"/>
                        <a:ea typeface="IBM Plex Sans" charset="0"/>
                        <a:cs typeface="IBM Plex Sans" charset="0"/>
                      </a:endParaRPr>
                    </a:p>
                  </a:txBody>
                  <a:tcPr marL="57785" marR="57785" marT="57785" marB="57785">
                    <a:lnL w="12700" cap="flat" cmpd="sng" algn="ctr">
                      <a:solidFill>
                        <a:srgbClr val="ACA89C"/>
                      </a:solidFill>
                      <a:prstDash val="solid"/>
                      <a:round/>
                      <a:headEnd type="none" w="med" len="med"/>
                      <a:tailEnd type="none" w="med" len="med"/>
                    </a:lnL>
                    <a:lnR w="12700" cap="flat" cmpd="sng" algn="ctr">
                      <a:solidFill>
                        <a:srgbClr val="ACA89C"/>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ACA89C"/>
                      </a:solidFill>
                      <a:prstDash val="solid"/>
                      <a:round/>
                      <a:headEnd type="none" w="med" len="med"/>
                      <a:tailEnd type="none" w="med" len="med"/>
                    </a:lnB>
                    <a:solidFill>
                      <a:srgbClr val="D7D2C3"/>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2303F"/>
                          </a:solidFill>
                          <a:latin typeface="IBM Plex Sans" pitchFamily="34" charset="0"/>
                          <a:ea typeface="IBM Plex Sans" pitchFamily="34" charset="-122"/>
                          <a:cs typeface="IBM Plex Sans" pitchFamily="34" charset="-120"/>
                        </a:rPr>
                        <a:t>Carolina del Sur</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ACA89C"/>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23</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ACA89C"/>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B33A1A"/>
                          </a:solidFill>
                          <a:latin typeface="IBM Plex Sans" pitchFamily="34" charset="0"/>
                          <a:ea typeface="IBM Plex Sans" pitchFamily="34" charset="-122"/>
                          <a:cs typeface="IBM Plex Sans" pitchFamily="34" charset="-120"/>
                        </a:rPr>
                        <a:t>18,8</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ACA89C"/>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ACA89C"/>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2303F"/>
                          </a:solidFill>
                          <a:latin typeface="IBM Plex Sans" pitchFamily="34" charset="0"/>
                          <a:ea typeface="IBM Plex Sans" pitchFamily="34" charset="-122"/>
                          <a:cs typeface="IBM Plex Sans" pitchFamily="34" charset="-120"/>
                        </a:rPr>
                        <a:t>KwaZulu-Natal</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21</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B33A1A"/>
                          </a:solidFill>
                          <a:latin typeface="IBM Plex Sans" pitchFamily="34" charset="0"/>
                          <a:ea typeface="IBM Plex Sans" pitchFamily="34" charset="-122"/>
                          <a:cs typeface="IBM Plex Sans" pitchFamily="34" charset="-120"/>
                        </a:rPr>
                        <a:t>21,7</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14</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2303F"/>
                          </a:solidFill>
                          <a:latin typeface="IBM Plex Sans" pitchFamily="34" charset="0"/>
                          <a:ea typeface="IBM Plex Sans" pitchFamily="34" charset="-122"/>
                          <a:cs typeface="IBM Plex Sans" pitchFamily="34" charset="-120"/>
                        </a:rPr>
                        <a:t>Cabo Oriental</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69</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B33A1A"/>
                          </a:solidFill>
                          <a:latin typeface="IBM Plex Sans" pitchFamily="34" charset="0"/>
                          <a:ea typeface="IBM Plex Sans" pitchFamily="34" charset="-122"/>
                          <a:cs typeface="IBM Plex Sans" pitchFamily="34" charset="-120"/>
                        </a:rPr>
                        <a:t>24,3</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13</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2303F"/>
                          </a:solidFill>
                          <a:latin typeface="IBM Plex Sans" pitchFamily="34" charset="0"/>
                          <a:ea typeface="IBM Plex Sans" pitchFamily="34" charset="-122"/>
                          <a:cs typeface="IBM Plex Sans" pitchFamily="34" charset="-120"/>
                        </a:rPr>
                        <a:t>Florida</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445</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B33A1A"/>
                          </a:solidFill>
                          <a:latin typeface="IBM Plex Sans" pitchFamily="34" charset="0"/>
                          <a:ea typeface="IBM Plex Sans" pitchFamily="34" charset="-122"/>
                          <a:cs typeface="IBM Plex Sans" pitchFamily="34" charset="-120"/>
                        </a:rPr>
                        <a:t>24,4</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2303F"/>
                          </a:solidFill>
                          <a:latin typeface="IBM Plex Sans" pitchFamily="34" charset="0"/>
                          <a:ea typeface="IBM Plex Sans" pitchFamily="34" charset="-122"/>
                          <a:cs typeface="IBM Plex Sans" pitchFamily="34" charset="-120"/>
                        </a:rPr>
                        <a:t>Queensland</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22</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26,1</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16</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2303F"/>
                          </a:solidFill>
                          <a:latin typeface="IBM Plex Sans" pitchFamily="34" charset="0"/>
                          <a:ea typeface="IBM Plex Sans" pitchFamily="34" charset="-122"/>
                          <a:cs typeface="IBM Plex Sans" pitchFamily="34" charset="-120"/>
                        </a:rPr>
                        <a:t>Cabo Occidental</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40</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27,0</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10</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12303F"/>
                          </a:solidFill>
                          <a:latin typeface="IBM Plex Sans" pitchFamily="34" charset="0"/>
                          <a:ea typeface="IBM Plex Sans" pitchFamily="34" charset="-122"/>
                          <a:cs typeface="IBM Plex Sans" pitchFamily="34" charset="-120"/>
                        </a:rPr>
                        <a:t>California</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88</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31,1</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15</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7"/>
                  </a:ext>
                </a:extLst>
              </a:tr>
              <a:tr h="356870">
                <a:tc>
                  <a:txBody>
                    <a:bodyPr/>
                    <a:lstStyle/>
                    <a:p>
                      <a:pPr marL="0" indent="0">
                        <a:lnSpc>
                          <a:spcPts val="1820"/>
                        </a:lnSpc>
                        <a:buNone/>
                      </a:pPr>
                      <a:r>
                        <a:rPr lang="en-US" sz="1300" dirty="0">
                          <a:solidFill>
                            <a:srgbClr val="12303F"/>
                          </a:solidFill>
                          <a:latin typeface="IBM Plex Sans" pitchFamily="34" charset="0"/>
                          <a:ea typeface="IBM Plex Sans" pitchFamily="34" charset="-122"/>
                          <a:cs typeface="IBM Plex Sans" pitchFamily="34" charset="-120"/>
                        </a:rPr>
                        <a:t>Nueva Gales del Sur</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114</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31,8</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10</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8"/>
                  </a:ext>
                </a:extLst>
              </a:tr>
              <a:tr h="356870">
                <a:tc>
                  <a:txBody>
                    <a:bodyPr/>
                    <a:lstStyle/>
                    <a:p>
                      <a:pPr marL="0" indent="0">
                        <a:lnSpc>
                          <a:spcPts val="1820"/>
                        </a:lnSpc>
                        <a:buNone/>
                      </a:pPr>
                      <a:r>
                        <a:rPr lang="en-US" sz="1300" dirty="0">
                          <a:solidFill>
                            <a:srgbClr val="12303F"/>
                          </a:solidFill>
                          <a:latin typeface="IBM Plex Sans" pitchFamily="34" charset="0"/>
                          <a:ea typeface="IBM Plex Sans" pitchFamily="34" charset="-122"/>
                          <a:cs typeface="IBM Plex Sans" pitchFamily="34" charset="-120"/>
                        </a:rPr>
                        <a:t>Australia Occidental</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43</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32,5</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11</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09"/>
                  </a:ext>
                </a:extLst>
              </a:tr>
              <a:tr h="356870">
                <a:tc>
                  <a:txBody>
                    <a:bodyPr/>
                    <a:lstStyle/>
                    <a:p>
                      <a:pPr marL="0" indent="0">
                        <a:lnSpc>
                          <a:spcPts val="1820"/>
                        </a:lnSpc>
                        <a:buNone/>
                      </a:pPr>
                      <a:r>
                        <a:rPr lang="en-US" sz="1300" dirty="0">
                          <a:solidFill>
                            <a:srgbClr val="12303F"/>
                          </a:solidFill>
                          <a:latin typeface="IBM Plex Sans" pitchFamily="34" charset="0"/>
                          <a:ea typeface="IBM Plex Sans" pitchFamily="34" charset="-122"/>
                          <a:cs typeface="IBM Plex Sans" pitchFamily="34" charset="-120"/>
                        </a:rPr>
                        <a:t>Hawái</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77</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34,6</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tc>
                  <a:txBody>
                    <a:bodyPr/>
                    <a:lstStyle/>
                    <a:p>
                      <a:pPr marL="0" indent="0" algn="r">
                        <a:lnSpc>
                          <a:spcPts val="1820"/>
                        </a:lnSpc>
                        <a:buNone/>
                      </a:pPr>
                      <a:r>
                        <a:rPr lang="en-US" sz="1300" dirty="0">
                          <a:solidFill>
                            <a:srgbClr val="12303F"/>
                          </a:solidFill>
                          <a:latin typeface="IBM Plex Sans" pitchFamily="34" charset="0"/>
                          <a:ea typeface="IBM Plex Sans" pitchFamily="34" charset="-122"/>
                          <a:cs typeface="IBM Plex Sans" pitchFamily="34" charset="-120"/>
                        </a:rPr>
                        <a:t>10</a:t>
                      </a:r>
                      <a:endParaRPr lang="en-US" sz="1300" dirty="0">
                        <a:latin typeface="IBM Plex Sans" charset="0"/>
                        <a:ea typeface="IBM Plex Sans" charset="0"/>
                        <a:cs typeface="IBM Plex Sans" charset="0"/>
                      </a:endParaRPr>
                    </a:p>
                  </a:txBody>
                  <a:tcPr marL="57785" marR="57785" marT="57785" marB="57785">
                    <a:lnL w="12700" cap="flat" cmpd="sng" algn="ctr">
                      <a:solidFill>
                        <a:srgbClr val="B9B5A8"/>
                      </a:solidFill>
                      <a:prstDash val="solid"/>
                      <a:round/>
                      <a:headEnd type="none" w="med" len="med"/>
                      <a:tailEnd type="none" w="med" len="med"/>
                    </a:lnL>
                    <a:lnR w="12700" cap="flat" cmpd="sng" algn="ctr">
                      <a:solidFill>
                        <a:srgbClr val="B9B5A8"/>
                      </a:solidFill>
                      <a:prstDash val="solid"/>
                      <a:round/>
                      <a:headEnd type="none" w="med" len="med"/>
                      <a:tailEnd type="none" w="med" len="med"/>
                    </a:lnR>
                    <a:lnT w="12700" cap="flat" cmpd="sng" algn="ctr">
                      <a:solidFill>
                        <a:srgbClr val="B9B5A8"/>
                      </a:solidFill>
                      <a:prstDash val="solid"/>
                      <a:round/>
                      <a:headEnd type="none" w="med" len="med"/>
                      <a:tailEnd type="none" w="med" len="med"/>
                    </a:lnT>
                    <a:lnB w="12700" cap="flat" cmpd="sng" algn="ctr">
                      <a:solidFill>
                        <a:srgbClr val="B9B5A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Shape 2"/>
          <p:cNvSpPr/>
          <p:nvPr/>
        </p:nvSpPr>
        <p:spPr>
          <a:xfrm>
            <a:off x="7442200" y="1972152"/>
            <a:ext cx="3937000" cy="1692910"/>
          </a:xfrm>
          <a:prstGeom prst="rect">
            <a:avLst/>
          </a:prstGeom>
          <a:solidFill>
            <a:srgbClr val="12303F"/>
          </a:solidFill>
          <a:ln/>
        </p:spPr>
        <p:txBody>
          <a:bodyPr/>
          <a:lstStyle/>
          <a:p>
            <a:endParaRPr lang="pt-PT"/>
          </a:p>
        </p:txBody>
      </p:sp>
      <p:sp>
        <p:nvSpPr>
          <p:cNvPr id="6" name="Text 3"/>
          <p:cNvSpPr/>
          <p:nvPr/>
        </p:nvSpPr>
        <p:spPr>
          <a:xfrm>
            <a:off x="7670800" y="2175352"/>
            <a:ext cx="35841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FBAC6"/>
                </a:solidFill>
                <a:latin typeface="Oswald" pitchFamily="34" charset="0"/>
                <a:ea typeface="Oswald" pitchFamily="34" charset="-122"/>
                <a:cs typeface="Oswald" pitchFamily="34" charset="-120"/>
              </a:rPr>
              <a:t>PERFIL, NO RIESGO</a:t>
            </a:r>
            <a:endParaRPr lang="en-US" sz="1500" dirty="0"/>
          </a:p>
        </p:txBody>
      </p:sp>
      <p:sp>
        <p:nvSpPr>
          <p:cNvPr id="7" name="Text 4"/>
          <p:cNvSpPr/>
          <p:nvPr/>
        </p:nvSpPr>
        <p:spPr>
          <a:xfrm>
            <a:off x="7670800" y="2467452"/>
            <a:ext cx="3584194" cy="115000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BCD3DA"/>
                </a:solidFill>
                <a:latin typeface="IBM Plex Sans" pitchFamily="34" charset="0"/>
                <a:ea typeface="IBM Plex Sans" pitchFamily="34" charset="-122"/>
                <a:cs typeface="IBM Plex Sans" pitchFamily="34" charset="-120"/>
              </a:rPr>
              <a:t>Donde las víctimas son más jóvenes puede ser que allí surfee gente más joven. Sirve para los grupos infantiles: ratio monitor/alumno más estricto en Florida y Carolina del Sur.</a:t>
            </a:r>
            <a:endParaRPr lang="en-US" sz="1350" dirty="0"/>
          </a:p>
        </p:txBody>
      </p:sp>
      <p:sp>
        <p:nvSpPr>
          <p:cNvPr id="8" name="Shape 5"/>
          <p:cNvSpPr/>
          <p:nvPr/>
        </p:nvSpPr>
        <p:spPr>
          <a:xfrm>
            <a:off x="7442200" y="3817460"/>
            <a:ext cx="3937000" cy="1692910"/>
          </a:xfrm>
          <a:prstGeom prst="rect">
            <a:avLst/>
          </a:prstGeom>
          <a:solidFill>
            <a:srgbClr val="E0B4A2"/>
          </a:solidFill>
          <a:ln/>
        </p:spPr>
        <p:txBody>
          <a:bodyPr/>
          <a:lstStyle/>
          <a:p>
            <a:endParaRPr lang="pt-PT"/>
          </a:p>
        </p:txBody>
      </p:sp>
      <p:sp>
        <p:nvSpPr>
          <p:cNvPr id="9" name="Shape 6"/>
          <p:cNvSpPr/>
          <p:nvPr/>
        </p:nvSpPr>
        <p:spPr>
          <a:xfrm>
            <a:off x="7461250" y="3817460"/>
            <a:ext cx="0" cy="1692910"/>
          </a:xfrm>
          <a:prstGeom prst="line">
            <a:avLst/>
          </a:prstGeom>
          <a:noFill/>
          <a:ln w="38100">
            <a:solidFill>
              <a:srgbClr val="B33A1A"/>
            </a:solidFill>
            <a:prstDash val="solid"/>
          </a:ln>
        </p:spPr>
        <p:txBody>
          <a:bodyPr/>
          <a:lstStyle/>
          <a:p>
            <a:endParaRPr lang="pt-PT"/>
          </a:p>
        </p:txBody>
      </p:sp>
      <p:sp>
        <p:nvSpPr>
          <p:cNvPr id="10" name="Text 7"/>
          <p:cNvSpPr/>
          <p:nvPr/>
        </p:nvSpPr>
        <p:spPr>
          <a:xfrm>
            <a:off x="7706360" y="4020660"/>
            <a:ext cx="354756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6B2410"/>
                </a:solidFill>
                <a:latin typeface="Oswald" pitchFamily="34" charset="0"/>
                <a:ea typeface="Oswald" pitchFamily="34" charset="-122"/>
                <a:cs typeface="Oswald" pitchFamily="34" charset="-120"/>
              </a:rPr>
              <a:t>NO RELLENAMOS CON LA MEDIA</a:t>
            </a:r>
            <a:endParaRPr lang="en-US" sz="1500" dirty="0"/>
          </a:p>
        </p:txBody>
      </p:sp>
      <p:sp>
        <p:nvSpPr>
          <p:cNvPr id="11" name="Text 8"/>
          <p:cNvSpPr/>
          <p:nvPr/>
        </p:nvSpPr>
        <p:spPr>
          <a:xfrm>
            <a:off x="7706360" y="4312760"/>
            <a:ext cx="3547567" cy="101981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2216"/>
                </a:solidFill>
                <a:latin typeface="IBM Plex Sans" pitchFamily="34" charset="0"/>
                <a:ea typeface="IBM Plex Sans" pitchFamily="34" charset="-122"/>
                <a:cs typeface="IBM Plex Sans" pitchFamily="34" charset="-120"/>
              </a:rPr>
              <a:t>Tras limpiar, el 32% de las edades sigue vacío. La media habría inventado un tercio de la columna y borrado justo las diferencias de esta tabla.</a:t>
            </a:r>
            <a:endParaRPr lang="en-US" sz="1350" dirty="0"/>
          </a:p>
        </p:txBody>
      </p:sp>
      <p:sp>
        <p:nvSpPr>
          <p:cNvPr id="12" name="Text 9"/>
          <p:cNvSpPr/>
          <p:nvPr/>
        </p:nvSpPr>
        <p:spPr>
          <a:xfrm>
            <a:off x="812800" y="6238242"/>
            <a:ext cx="86579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B8B92"/>
                </a:solidFill>
                <a:latin typeface="IBM Plex Sans" pitchFamily="34" charset="0"/>
                <a:ea typeface="IBM Plex Sans" pitchFamily="34" charset="-122"/>
                <a:cs typeface="IBM Plex Sans" pitchFamily="34" charset="-120"/>
              </a:rPr>
              <a:t>Todas las actividades desde 1950: mediana de 25 años, y al menos una de cada cuatro víctimas con edad tenía 17 o menos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2EE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85470"/>
          </a:xfrm>
          <a:prstGeom prst="rect">
            <a:avLst/>
          </a:prstGeom>
          <a:noFill/>
          <a:ln/>
        </p:spPr>
        <p:txBody>
          <a:bodyPr wrap="square" lIns="0" tIns="0" rIns="0" bIns="0" rtlCol="0" anchor="t">
            <a:normAutofit/>
          </a:bodyPr>
          <a:lstStyle/>
          <a:p>
            <a:pPr marL="0" indent="0" algn="l">
              <a:lnSpc>
                <a:spcPts val="4410"/>
              </a:lnSpc>
              <a:buNone/>
            </a:pPr>
            <a:r>
              <a:rPr lang="en-US" sz="4200" b="1" dirty="0">
                <a:solidFill>
                  <a:srgbClr val="12303F"/>
                </a:solidFill>
                <a:latin typeface="Oswald" pitchFamily="34" charset="0"/>
                <a:ea typeface="Oswald" pitchFamily="34" charset="-122"/>
                <a:cs typeface="Oswald" pitchFamily="34" charset="-120"/>
              </a:rPr>
              <a:t>El surf, frente a otras actividades</a:t>
            </a:r>
            <a:endParaRPr lang="en-US" sz="4200" dirty="0"/>
          </a:p>
        </p:txBody>
      </p:sp>
      <p:sp>
        <p:nvSpPr>
          <p:cNvPr id="3" name="Text 1"/>
          <p:cNvSpPr/>
          <p:nvPr/>
        </p:nvSpPr>
        <p:spPr>
          <a:xfrm>
            <a:off x="812800" y="144907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B7480"/>
                </a:solidFill>
                <a:latin typeface="IBM Plex Sans" pitchFamily="34" charset="0"/>
                <a:ea typeface="IBM Plex Sans" pitchFamily="34" charset="-122"/>
                <a:cs typeface="IBM Plex Sans" pitchFamily="34" charset="-120"/>
              </a:rPr>
              <a:t>Porcentajes calculados dentro de cada actividad, no sobre el total</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97710"/>
          <a:ext cx="10556239" cy="2051050"/>
        </p:xfrm>
        <a:graphic>
          <a:graphicData uri="http://schemas.openxmlformats.org/drawingml/2006/table">
            <a:tbl>
              <a:tblPr/>
              <a:tblGrid>
                <a:gridCol w="2955747">
                  <a:extLst>
                    <a:ext uri="{9D8B030D-6E8A-4147-A177-3AD203B41FA5}">
                      <a16:colId xmlns:a16="http://schemas.microsoft.com/office/drawing/2014/main" val="20000"/>
                    </a:ext>
                  </a:extLst>
                </a:gridCol>
                <a:gridCol w="1900123">
                  <a:extLst>
                    <a:ext uri="{9D8B030D-6E8A-4147-A177-3AD203B41FA5}">
                      <a16:colId xmlns:a16="http://schemas.microsoft.com/office/drawing/2014/main" val="20001"/>
                    </a:ext>
                  </a:extLst>
                </a:gridCol>
                <a:gridCol w="1900123">
                  <a:extLst>
                    <a:ext uri="{9D8B030D-6E8A-4147-A177-3AD203B41FA5}">
                      <a16:colId xmlns:a16="http://schemas.microsoft.com/office/drawing/2014/main" val="20002"/>
                    </a:ext>
                  </a:extLst>
                </a:gridCol>
                <a:gridCol w="1900123">
                  <a:extLst>
                    <a:ext uri="{9D8B030D-6E8A-4147-A177-3AD203B41FA5}">
                      <a16:colId xmlns:a16="http://schemas.microsoft.com/office/drawing/2014/main" val="20003"/>
                    </a:ext>
                  </a:extLst>
                </a:gridCol>
                <a:gridCol w="1900123">
                  <a:extLst>
                    <a:ext uri="{9D8B030D-6E8A-4147-A177-3AD203B41FA5}">
                      <a16:colId xmlns:a16="http://schemas.microsoft.com/office/drawing/2014/main" val="20004"/>
                    </a:ext>
                  </a:extLst>
                </a:gridCol>
              </a:tblGrid>
              <a:tr h="410210">
                <a:tc>
                  <a:txBody>
                    <a:bodyPr/>
                    <a:lstStyle/>
                    <a:p>
                      <a:pPr marL="0" indent="0">
                        <a:lnSpc>
                          <a:spcPts val="2100"/>
                        </a:lnSpc>
                        <a:buNone/>
                      </a:pPr>
                      <a:r>
                        <a:rPr lang="en-US" sz="1500" b="1" dirty="0">
                          <a:solidFill>
                            <a:srgbClr val="12303F"/>
                          </a:solidFill>
                          <a:latin typeface="IBM Plex Sans" pitchFamily="34" charset="0"/>
                          <a:ea typeface="IBM Plex Sans" pitchFamily="34" charset="-122"/>
                          <a:cs typeface="IBM Plex Sans" pitchFamily="34" charset="-120"/>
                        </a:rPr>
                        <a:t>Actividad</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B3B1A8"/>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B3B1A8"/>
                      </a:solidFill>
                      <a:prstDash val="solid"/>
                      <a:round/>
                      <a:headEnd type="none" w="med" len="med"/>
                      <a:tailEnd type="none" w="med" len="med"/>
                    </a:lnB>
                    <a:solidFill>
                      <a:srgbClr val="E0DDD2"/>
                    </a:solidFill>
                  </a:tcPr>
                </a:tc>
                <a:tc>
                  <a:txBody>
                    <a:bodyPr/>
                    <a:lstStyle/>
                    <a:p>
                      <a:pPr marL="0" indent="0" algn="r">
                        <a:lnSpc>
                          <a:spcPts val="2100"/>
                        </a:lnSpc>
                        <a:buNone/>
                      </a:pPr>
                      <a:r>
                        <a:rPr lang="en-US" sz="1500" b="1" dirty="0">
                          <a:solidFill>
                            <a:srgbClr val="12303F"/>
                          </a:solidFill>
                          <a:latin typeface="IBM Plex Sans" pitchFamily="34" charset="0"/>
                          <a:ea typeface="IBM Plex Sans" pitchFamily="34" charset="-122"/>
                          <a:cs typeface="IBM Plex Sans" pitchFamily="34" charset="-120"/>
                        </a:rPr>
                        <a:t>Ataques</a:t>
                      </a:r>
                      <a:endParaRPr lang="en-US" sz="1500" dirty="0">
                        <a:latin typeface="IBM Plex Sans" charset="0"/>
                        <a:ea typeface="IBM Plex Sans" charset="0"/>
                        <a:cs typeface="IBM Plex Sans" charset="0"/>
                      </a:endParaRPr>
                    </a:p>
                  </a:txBody>
                  <a:tcPr marL="66675" marR="66675" marT="66675" marB="66675">
                    <a:lnL w="12700" cap="flat" cmpd="sng" algn="ctr">
                      <a:solidFill>
                        <a:srgbClr val="B3B1A8"/>
                      </a:solidFill>
                      <a:prstDash val="solid"/>
                      <a:round/>
                      <a:headEnd type="none" w="med" len="med"/>
                      <a:tailEnd type="none" w="med" len="med"/>
                    </a:lnL>
                    <a:lnR w="12700" cap="flat" cmpd="sng" algn="ctr">
                      <a:solidFill>
                        <a:srgbClr val="B3B1A8"/>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B3B1A8"/>
                      </a:solidFill>
                      <a:prstDash val="solid"/>
                      <a:round/>
                      <a:headEnd type="none" w="med" len="med"/>
                      <a:tailEnd type="none" w="med" len="med"/>
                    </a:lnB>
                    <a:solidFill>
                      <a:srgbClr val="E0DDD2"/>
                    </a:solidFill>
                  </a:tcPr>
                </a:tc>
                <a:tc>
                  <a:txBody>
                    <a:bodyPr/>
                    <a:lstStyle/>
                    <a:p>
                      <a:pPr marL="0" indent="0" algn="r">
                        <a:lnSpc>
                          <a:spcPts val="2100"/>
                        </a:lnSpc>
                        <a:buNone/>
                      </a:pPr>
                      <a:r>
                        <a:rPr lang="en-US" sz="1500" b="1" dirty="0">
                          <a:solidFill>
                            <a:srgbClr val="12303F"/>
                          </a:solidFill>
                          <a:latin typeface="IBM Plex Sans" pitchFamily="34" charset="0"/>
                          <a:ea typeface="IBM Plex Sans" pitchFamily="34" charset="-122"/>
                          <a:cs typeface="IBM Plex Sans" pitchFamily="34" charset="-120"/>
                        </a:rPr>
                        <a:t>% mortales</a:t>
                      </a:r>
                      <a:endParaRPr lang="en-US" sz="1500" dirty="0">
                        <a:latin typeface="IBM Plex Sans" charset="0"/>
                        <a:ea typeface="IBM Plex Sans" charset="0"/>
                        <a:cs typeface="IBM Plex Sans" charset="0"/>
                      </a:endParaRPr>
                    </a:p>
                  </a:txBody>
                  <a:tcPr marL="66675" marR="66675" marT="66675" marB="66675">
                    <a:lnL w="12700" cap="flat" cmpd="sng" algn="ctr">
                      <a:solidFill>
                        <a:srgbClr val="B3B1A8"/>
                      </a:solidFill>
                      <a:prstDash val="solid"/>
                      <a:round/>
                      <a:headEnd type="none" w="med" len="med"/>
                      <a:tailEnd type="none" w="med" len="med"/>
                    </a:lnL>
                    <a:lnR w="12700" cap="flat" cmpd="sng" algn="ctr">
                      <a:solidFill>
                        <a:srgbClr val="B3B1A8"/>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B3B1A8"/>
                      </a:solidFill>
                      <a:prstDash val="solid"/>
                      <a:round/>
                      <a:headEnd type="none" w="med" len="med"/>
                      <a:tailEnd type="none" w="med" len="med"/>
                    </a:lnB>
                    <a:solidFill>
                      <a:srgbClr val="E0DDD2"/>
                    </a:solidFill>
                  </a:tcPr>
                </a:tc>
                <a:tc>
                  <a:txBody>
                    <a:bodyPr/>
                    <a:lstStyle/>
                    <a:p>
                      <a:pPr marL="0" indent="0" algn="r">
                        <a:lnSpc>
                          <a:spcPts val="2100"/>
                        </a:lnSpc>
                        <a:buNone/>
                      </a:pPr>
                      <a:r>
                        <a:rPr lang="en-US" sz="1500" b="1" dirty="0">
                          <a:solidFill>
                            <a:srgbClr val="12303F"/>
                          </a:solidFill>
                          <a:latin typeface="IBM Plex Sans" pitchFamily="34" charset="0"/>
                          <a:ea typeface="IBM Plex Sans" pitchFamily="34" charset="-122"/>
                          <a:cs typeface="IBM Plex Sans" pitchFamily="34" charset="-120"/>
                        </a:rPr>
                        <a:t>% amputación</a:t>
                      </a:r>
                      <a:endParaRPr lang="en-US" sz="1500" dirty="0">
                        <a:latin typeface="IBM Plex Sans" charset="0"/>
                        <a:ea typeface="IBM Plex Sans" charset="0"/>
                        <a:cs typeface="IBM Plex Sans" charset="0"/>
                      </a:endParaRPr>
                    </a:p>
                  </a:txBody>
                  <a:tcPr marL="66675" marR="66675" marT="66675" marB="66675">
                    <a:lnL w="12700" cap="flat" cmpd="sng" algn="ctr">
                      <a:solidFill>
                        <a:srgbClr val="B3B1A8"/>
                      </a:solidFill>
                      <a:prstDash val="solid"/>
                      <a:round/>
                      <a:headEnd type="none" w="med" len="med"/>
                      <a:tailEnd type="none" w="med" len="med"/>
                    </a:lnL>
                    <a:lnR w="12700" cap="flat" cmpd="sng" algn="ctr">
                      <a:solidFill>
                        <a:srgbClr val="B3B1A8"/>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B3B1A8"/>
                      </a:solidFill>
                      <a:prstDash val="solid"/>
                      <a:round/>
                      <a:headEnd type="none" w="med" len="med"/>
                      <a:tailEnd type="none" w="med" len="med"/>
                    </a:lnB>
                    <a:solidFill>
                      <a:srgbClr val="E0DDD2"/>
                    </a:solidFill>
                  </a:tcPr>
                </a:tc>
                <a:tc>
                  <a:txBody>
                    <a:bodyPr/>
                    <a:lstStyle/>
                    <a:p>
                      <a:pPr marL="0" indent="0" algn="r">
                        <a:lnSpc>
                          <a:spcPts val="2100"/>
                        </a:lnSpc>
                        <a:buNone/>
                      </a:pPr>
                      <a:r>
                        <a:rPr lang="en-US" sz="1500" b="1" dirty="0">
                          <a:solidFill>
                            <a:srgbClr val="12303F"/>
                          </a:solidFill>
                          <a:latin typeface="IBM Plex Sans" pitchFamily="34" charset="0"/>
                          <a:ea typeface="IBM Plex Sans" pitchFamily="34" charset="-122"/>
                          <a:cs typeface="IBM Plex Sans" pitchFamily="34" charset="-120"/>
                        </a:rPr>
                        <a:t>% sin herida</a:t>
                      </a:r>
                      <a:endParaRPr lang="en-US" sz="1500" dirty="0">
                        <a:latin typeface="IBM Plex Sans" charset="0"/>
                        <a:ea typeface="IBM Plex Sans" charset="0"/>
                        <a:cs typeface="IBM Plex Sans" charset="0"/>
                      </a:endParaRPr>
                    </a:p>
                  </a:txBody>
                  <a:tcPr marL="66675" marR="66675" marT="66675" marB="66675">
                    <a:lnL w="12700" cap="flat" cmpd="sng" algn="ctr">
                      <a:solidFill>
                        <a:srgbClr val="B3B1A8"/>
                      </a:solidFill>
                      <a:prstDash val="solid"/>
                      <a:round/>
                      <a:headEnd type="none" w="med" len="med"/>
                      <a:tailEnd type="none" w="med" len="med"/>
                    </a:lnL>
                    <a:lnR w="12700" cap="flat" cmpd="sng" algn="ctr">
                      <a:solidFill>
                        <a:srgbClr val="B3B1A8"/>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B3B1A8"/>
                      </a:solidFill>
                      <a:prstDash val="solid"/>
                      <a:round/>
                      <a:headEnd type="none" w="med" len="med"/>
                      <a:tailEnd type="none" w="med" len="med"/>
                    </a:lnB>
                    <a:solidFill>
                      <a:srgbClr val="E0DDD2"/>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2303F"/>
                          </a:solidFill>
                          <a:latin typeface="IBM Plex Sans" pitchFamily="34" charset="0"/>
                          <a:ea typeface="IBM Plex Sans" pitchFamily="34" charset="-122"/>
                          <a:cs typeface="IBM Plex Sans" pitchFamily="34" charset="-120"/>
                        </a:rPr>
                        <a:t>Surf</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B3B1A8"/>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1.147</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B3B1A8"/>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2E7D4F"/>
                          </a:solidFill>
                          <a:latin typeface="IBM Plex Sans" pitchFamily="34" charset="0"/>
                          <a:ea typeface="IBM Plex Sans" pitchFamily="34" charset="-122"/>
                          <a:cs typeface="IBM Plex Sans" pitchFamily="34" charset="-120"/>
                        </a:rPr>
                        <a:t>5,0%</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B3B1A8"/>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0,3%</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B3B1A8"/>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2E7D4F"/>
                          </a:solidFill>
                          <a:latin typeface="IBM Plex Sans" pitchFamily="34" charset="0"/>
                          <a:ea typeface="IBM Plex Sans" pitchFamily="34" charset="-122"/>
                          <a:cs typeface="IBM Plex Sans" pitchFamily="34" charset="-120"/>
                        </a:rPr>
                        <a:t>17,3%</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B3B1A8"/>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2303F"/>
                          </a:solidFill>
                          <a:latin typeface="IBM Plex Sans" pitchFamily="34" charset="0"/>
                          <a:ea typeface="IBM Plex Sans" pitchFamily="34" charset="-122"/>
                          <a:cs typeface="IBM Plex Sans" pitchFamily="34" charset="-120"/>
                        </a:rPr>
                        <a:t>Natación</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570</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10,5%</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1,8%</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1,4%</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12303F"/>
                          </a:solidFill>
                          <a:latin typeface="IBM Plex Sans" pitchFamily="34" charset="0"/>
                          <a:ea typeface="IBM Plex Sans" pitchFamily="34" charset="-122"/>
                          <a:cs typeface="IBM Plex Sans" pitchFamily="34" charset="-120"/>
                        </a:rPr>
                        <a:t>Pesca</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211</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10,9%</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0,9%</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13,3%</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12303F"/>
                          </a:solidFill>
                          <a:latin typeface="IBM Plex Sans" pitchFamily="34" charset="0"/>
                          <a:ea typeface="IBM Plex Sans" pitchFamily="34" charset="-122"/>
                          <a:cs typeface="IBM Plex Sans" pitchFamily="34" charset="-120"/>
                        </a:rPr>
                        <a:t>Buceo</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192</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14,6%</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0,5%</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tc>
                  <a:txBody>
                    <a:bodyPr/>
                    <a:lstStyle/>
                    <a:p>
                      <a:pPr marL="0" indent="0" algn="r">
                        <a:lnSpc>
                          <a:spcPts val="2100"/>
                        </a:lnSpc>
                        <a:buNone/>
                      </a:pPr>
                      <a:r>
                        <a:rPr lang="en-US" sz="1500" dirty="0">
                          <a:solidFill>
                            <a:srgbClr val="12303F"/>
                          </a:solidFill>
                          <a:latin typeface="IBM Plex Sans" pitchFamily="34" charset="0"/>
                          <a:ea typeface="IBM Plex Sans" pitchFamily="34" charset="-122"/>
                          <a:cs typeface="IBM Plex Sans" pitchFamily="34" charset="-120"/>
                        </a:rPr>
                        <a:t>10,4%</a:t>
                      </a:r>
                      <a:endParaRPr lang="en-US" sz="1500" dirty="0">
                        <a:latin typeface="IBM Plex Sans" charset="0"/>
                        <a:ea typeface="IBM Plex Sans" charset="0"/>
                        <a:cs typeface="IBM Plex Sans" charset="0"/>
                      </a:endParaRPr>
                    </a:p>
                  </a:txBody>
                  <a:tcPr marL="66675" marR="66675" marT="66675" marB="66675">
                    <a:lnL w="12700" cap="flat" cmpd="sng" algn="ctr">
                      <a:solidFill>
                        <a:srgbClr val="C1BEB5"/>
                      </a:solidFill>
                      <a:prstDash val="solid"/>
                      <a:round/>
                      <a:headEnd type="none" w="med" len="med"/>
                      <a:tailEnd type="none" w="med" len="med"/>
                    </a:lnL>
                    <a:lnR w="12700" cap="flat" cmpd="sng" algn="ctr">
                      <a:solidFill>
                        <a:srgbClr val="C1BEB5"/>
                      </a:solidFill>
                      <a:prstDash val="solid"/>
                      <a:round/>
                      <a:headEnd type="none" w="med" len="med"/>
                      <a:tailEnd type="none" w="med" len="med"/>
                    </a:lnR>
                    <a:lnT w="12700" cap="flat" cmpd="sng" algn="ctr">
                      <a:solidFill>
                        <a:srgbClr val="C1BEB5"/>
                      </a:solidFill>
                      <a:prstDash val="solid"/>
                      <a:round/>
                      <a:headEnd type="none" w="med" len="med"/>
                      <a:tailEnd type="none" w="med" len="med"/>
                    </a:lnT>
                    <a:lnB w="12700" cap="flat" cmpd="sng" algn="ctr">
                      <a:solidFill>
                        <a:srgbClr val="C1BE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812800" y="4315464"/>
            <a:ext cx="5181600" cy="0"/>
          </a:xfrm>
          <a:prstGeom prst="line">
            <a:avLst/>
          </a:prstGeom>
          <a:noFill/>
          <a:ln w="25400">
            <a:solidFill>
              <a:srgbClr val="2E7D4F"/>
            </a:solidFill>
            <a:prstDash val="solid"/>
          </a:ln>
        </p:spPr>
        <p:txBody>
          <a:bodyPr/>
          <a:lstStyle/>
          <a:p>
            <a:endParaRPr lang="pt-PT"/>
          </a:p>
        </p:txBody>
      </p:sp>
      <p:sp>
        <p:nvSpPr>
          <p:cNvPr id="6" name="Text 3"/>
          <p:cNvSpPr/>
          <p:nvPr/>
        </p:nvSpPr>
        <p:spPr>
          <a:xfrm>
            <a:off x="812800" y="4467864"/>
            <a:ext cx="533704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E7D4F"/>
                </a:solidFill>
                <a:latin typeface="Oswald" pitchFamily="34" charset="0"/>
                <a:ea typeface="Oswald" pitchFamily="34" charset="-122"/>
                <a:cs typeface="Oswald" pitchFamily="34" charset="-120"/>
              </a:rPr>
              <a:t>LO QUE AFIRMAMOS</a:t>
            </a:r>
            <a:endParaRPr lang="en-US" sz="1500" dirty="0"/>
          </a:p>
        </p:txBody>
      </p:sp>
      <p:sp>
        <p:nvSpPr>
          <p:cNvPr id="7" name="Text 4"/>
          <p:cNvSpPr/>
          <p:nvPr/>
        </p:nvSpPr>
        <p:spPr>
          <a:xfrm>
            <a:off x="812800" y="4759964"/>
            <a:ext cx="5337048" cy="640000"/>
          </a:xfrm>
          <a:prstGeom prst="rect">
            <a:avLst/>
          </a:prstGeom>
          <a:noFill/>
          <a:ln/>
        </p:spPr>
        <p:txBody>
          <a:bodyPr wrap="square" lIns="0" tIns="0" rIns="0" bIns="0" rtlCol="0" anchor="t">
            <a:normAutofit/>
          </a:bodyPr>
          <a:lstStyle/>
          <a:p>
            <a:pPr marL="0" indent="0" algn="l">
              <a:lnSpc>
                <a:spcPts val="1800"/>
              </a:lnSpc>
              <a:buNone/>
            </a:pPr>
            <a:r>
              <a:rPr lang="en-US" sz="1450" dirty="0">
                <a:solidFill>
                  <a:srgbClr val="3F5D6B"/>
                </a:solidFill>
                <a:latin typeface="IBM Plex Sans" pitchFamily="34" charset="0"/>
                <a:ea typeface="IBM Plex Sans" pitchFamily="34" charset="-122"/>
                <a:cs typeface="IBM Plex Sans" pitchFamily="34" charset="-120"/>
              </a:rPr>
              <a:t>El surf registra la mitad de casos mortales que la natación, 5,0% frente a 10,5%, y un ataque de cada seis sin herida.</a:t>
            </a:r>
            <a:endParaRPr lang="en-US" sz="1450" dirty="0"/>
          </a:p>
        </p:txBody>
      </p:sp>
      <p:sp>
        <p:nvSpPr>
          <p:cNvPr id="8" name="Shape 5"/>
          <p:cNvSpPr/>
          <p:nvPr/>
        </p:nvSpPr>
        <p:spPr>
          <a:xfrm>
            <a:off x="6197600" y="4315464"/>
            <a:ext cx="5181600" cy="0"/>
          </a:xfrm>
          <a:prstGeom prst="line">
            <a:avLst/>
          </a:prstGeom>
          <a:noFill/>
          <a:ln w="25400">
            <a:solidFill>
              <a:srgbClr val="B33A1A"/>
            </a:solidFill>
            <a:prstDash val="solid"/>
          </a:ln>
        </p:spPr>
        <p:txBody>
          <a:bodyPr/>
          <a:lstStyle/>
          <a:p>
            <a:endParaRPr lang="pt-PT"/>
          </a:p>
        </p:txBody>
      </p:sp>
      <p:sp>
        <p:nvSpPr>
          <p:cNvPr id="9" name="Text 6"/>
          <p:cNvSpPr/>
          <p:nvPr/>
        </p:nvSpPr>
        <p:spPr>
          <a:xfrm>
            <a:off x="6197600" y="4467864"/>
            <a:ext cx="533704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33A1A"/>
                </a:solidFill>
                <a:latin typeface="Oswald" pitchFamily="34" charset="0"/>
                <a:ea typeface="Oswald" pitchFamily="34" charset="-122"/>
                <a:cs typeface="Oswald" pitchFamily="34" charset="-120"/>
              </a:rPr>
              <a:t>LO QUE NO AFIRMAMOS</a:t>
            </a:r>
            <a:endParaRPr lang="en-US" sz="1500" dirty="0"/>
          </a:p>
        </p:txBody>
      </p:sp>
      <p:sp>
        <p:nvSpPr>
          <p:cNvPr id="10" name="Text 7"/>
          <p:cNvSpPr/>
          <p:nvPr/>
        </p:nvSpPr>
        <p:spPr>
          <a:xfrm>
            <a:off x="6197600" y="4759964"/>
            <a:ext cx="5337048" cy="640000"/>
          </a:xfrm>
          <a:prstGeom prst="rect">
            <a:avLst/>
          </a:prstGeom>
          <a:noFill/>
          <a:ln/>
        </p:spPr>
        <p:txBody>
          <a:bodyPr wrap="square" lIns="0" tIns="0" rIns="0" bIns="0" rtlCol="0" anchor="t">
            <a:normAutofit/>
          </a:bodyPr>
          <a:lstStyle/>
          <a:p>
            <a:pPr marL="0" indent="0" algn="l">
              <a:lnSpc>
                <a:spcPts val="1800"/>
              </a:lnSpc>
              <a:buNone/>
            </a:pPr>
            <a:r>
              <a:rPr lang="en-US" sz="1450" dirty="0">
                <a:solidFill>
                  <a:srgbClr val="3F5D6B"/>
                </a:solidFill>
                <a:latin typeface="IBM Plex Sans" pitchFamily="34" charset="0"/>
                <a:ea typeface="IBM Plex Sans" pitchFamily="34" charset="-122"/>
                <a:cs typeface="IBM Plex Sans" pitchFamily="34" charset="-120"/>
              </a:rPr>
              <a:t>Que sea por la tabla. Es una explicación razonable y este archivo no la puede comprobar: la damos como hipótesis.</a:t>
            </a:r>
            <a:endParaRPr lang="en-US" sz="1450" dirty="0"/>
          </a:p>
        </p:txBody>
      </p:sp>
      <p:sp>
        <p:nvSpPr>
          <p:cNvPr id="11" name="Text 8"/>
          <p:cNvSpPr/>
          <p:nvPr/>
        </p:nvSpPr>
        <p:spPr>
          <a:xfrm>
            <a:off x="812800" y="6238242"/>
            <a:ext cx="705360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B8B92"/>
                </a:solidFill>
                <a:latin typeface="IBM Plex Sans" pitchFamily="34" charset="0"/>
                <a:ea typeface="IBM Plex Sans" pitchFamily="34" charset="-122"/>
                <a:cs typeface="IBM Plex Sans" pitchFamily="34" charset="-120"/>
              </a:rPr>
              <a:t>injury_grouped construido con np.select · no provocados · 10 estados con más ataques · 1950-2026</a:t>
            </a:r>
            <a:endParaRPr lang="en-US" sz="1200" dirty="0"/>
          </a:p>
        </p:txBody>
      </p:sp>
      <p:sp>
        <p:nvSpPr>
          <p:cNvPr id="101" name="Shape 101"/>
          <p:cNvSpPr/>
          <p:nvPr/>
        </p:nvSpPr>
        <p:spPr>
          <a:xfrm>
            <a:off x="812800" y="5560000"/>
            <a:ext cx="10566400" cy="600000"/>
          </a:xfrm>
          <a:prstGeom prst="rect">
            <a:avLst/>
          </a:prstGeom>
          <a:solidFill>
            <a:srgbClr val="12303F"/>
          </a:solidFill>
          <a:ln/>
        </p:spPr>
        <p:txBody>
          <a:bodyPr/>
          <a:lstStyle/>
          <a:p>
            <a:endParaRPr lang="pt-PT"/>
          </a:p>
        </p:txBody>
      </p:sp>
      <p:sp>
        <p:nvSpPr>
          <p:cNvPr id="102" name="Text 102"/>
          <p:cNvSpPr txBox="1"/>
          <p:nvPr/>
        </p:nvSpPr>
        <p:spPr>
          <a:xfrm>
            <a:off x="1051560" y="5730000"/>
            <a:ext cx="2600000" cy="300000"/>
          </a:xfrm>
          <a:prstGeom prst="rect">
            <a:avLst/>
          </a:prstGeom>
          <a:noFill/>
          <a:ln/>
        </p:spPr>
        <p:txBody>
          <a:bodyPr wrap="square" lIns="0" tIns="0" rIns="0" bIns="0" rtlCol="0" anchor="t">
            <a:noAutofit/>
          </a:bodyPr>
          <a:lstStyle/>
          <a:p>
            <a:pPr marL="0" indent="0" algn="l">
              <a:lnSpc>
                <a:spcPts val="1820"/>
              </a:lnSpc>
              <a:buNone/>
            </a:pPr>
            <a:r>
              <a:rPr lang="es-ES" sz="1300" spc="150" dirty="0">
                <a:solidFill>
                  <a:srgbClr val="8FBAC6"/>
                </a:solidFill>
                <a:latin typeface="Oswald" pitchFamily="34" charset="0"/>
                <a:ea typeface="Oswald" pitchFamily="34" charset="-122"/>
                <a:cs typeface="Oswald" pitchFamily="34" charset="-120"/>
              </a:rPr>
              <a:t>PARA PADRES Y ALUMNOS</a:t>
            </a:r>
            <a:endParaRPr lang="es-ES" sz="1300" dirty="0"/>
          </a:p>
        </p:txBody>
      </p:sp>
      <p:sp>
        <p:nvSpPr>
          <p:cNvPr id="103" name="Text 103"/>
          <p:cNvSpPr txBox="1"/>
          <p:nvPr/>
        </p:nvSpPr>
        <p:spPr>
          <a:xfrm>
            <a:off x="3700000" y="5640000"/>
            <a:ext cx="7500000" cy="460000"/>
          </a:xfrm>
          <a:prstGeom prst="rect">
            <a:avLst/>
          </a:prstGeom>
          <a:noFill/>
          <a:ln/>
        </p:spPr>
        <p:txBody>
          <a:bodyPr wrap="square" lIns="0" tIns="0" rIns="0" bIns="0" rtlCol="0" anchor="t">
            <a:noAutofit/>
          </a:bodyPr>
          <a:lstStyle/>
          <a:p>
            <a:pPr marL="0" indent="0" algn="l">
              <a:lnSpc>
                <a:spcPts val="1900"/>
              </a:lnSpc>
              <a:buNone/>
            </a:pPr>
            <a:r>
              <a:rPr lang="es-ES" sz="1350" dirty="0">
                <a:solidFill>
                  <a:srgbClr val="F2EEE3"/>
                </a:solidFill>
                <a:latin typeface="IBM Plex Sans" pitchFamily="34" charset="0"/>
                <a:ea typeface="IBM Plex Sans" pitchFamily="34" charset="-122"/>
                <a:cs typeface="IBM Plex Sans" pitchFamily="34" charset="-120"/>
              </a:rPr>
              <a:t>La mortalidad de los ataques registrados bajó de 22,0% a 9,4% en cincuenta años, y en el surf es la mitad que en la natación.</a:t>
            </a:r>
            <a:endParaRPr lang="es-E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0B2431"/>
        </a:solidFill>
        <a:effectLst/>
      </p:bgPr>
    </p:bg>
    <p:spTree>
      <p:nvGrpSpPr>
        <p:cNvPr id="1" name=""/>
        <p:cNvGrpSpPr/>
        <p:nvPr/>
      </p:nvGrpSpPr>
      <p:grpSpPr>
        <a:xfrm>
          <a:off x="0" y="0"/>
          <a:ext cx="0" cy="0"/>
          <a:chOff x="0" y="0"/>
          <a:chExt cx="0" cy="0"/>
        </a:xfrm>
      </p:grpSpPr>
      <p:sp>
        <p:nvSpPr>
          <p:cNvPr id="3" name="Text 0"/>
          <p:cNvSpPr/>
          <p:nvPr/>
        </p:nvSpPr>
        <p:spPr>
          <a:xfrm>
            <a:off x="812800" y="812800"/>
            <a:ext cx="10883392" cy="585470"/>
          </a:xfrm>
          <a:prstGeom prst="rect">
            <a:avLst/>
          </a:prstGeom>
          <a:noFill/>
          <a:ln/>
        </p:spPr>
        <p:txBody>
          <a:bodyPr wrap="square" lIns="0" tIns="0" rIns="0" bIns="0" rtlCol="0" anchor="t">
            <a:normAutofit/>
          </a:bodyPr>
          <a:lstStyle/>
          <a:p>
            <a:pPr marL="0" indent="0" algn="l">
              <a:lnSpc>
                <a:spcPts val="4410"/>
              </a:lnSpc>
              <a:buNone/>
            </a:pPr>
            <a:r>
              <a:rPr lang="en-US" sz="4200" b="1" dirty="0">
                <a:solidFill>
                  <a:srgbClr val="F2EEE3"/>
                </a:solidFill>
                <a:latin typeface="Oswald" pitchFamily="34" charset="0"/>
                <a:ea typeface="Oswald" pitchFamily="34" charset="-122"/>
                <a:cs typeface="Oswald" pitchFamily="34" charset="-120"/>
              </a:rPr>
              <a:t>Recomendación</a:t>
            </a:r>
            <a:endParaRPr lang="en-US" sz="4200" dirty="0"/>
          </a:p>
        </p:txBody>
      </p:sp>
      <p:sp>
        <p:nvSpPr>
          <p:cNvPr id="20" name="Text 17"/>
          <p:cNvSpPr/>
          <p:nvPr/>
        </p:nvSpPr>
        <p:spPr>
          <a:xfrm>
            <a:off x="812800" y="6238242"/>
            <a:ext cx="6819207" cy="238760"/>
          </a:xfrm>
          <a:prstGeom prst="rect">
            <a:avLst/>
          </a:prstGeom>
          <a:noFill/>
          <a:ln/>
        </p:spPr>
        <p:txBody>
          <a:bodyPr wrap="square" lIns="0" tIns="0" rIns="0" bIns="0" rtlCol="0" anchor="t">
            <a:normAutofit fontScale="92500"/>
          </a:bodyPr>
          <a:lstStyle/>
          <a:p>
            <a:pPr marL="0" indent="0" algn="l">
              <a:lnSpc>
                <a:spcPts val="1680"/>
              </a:lnSpc>
              <a:buNone/>
            </a:pPr>
            <a:r>
              <a:rPr lang="en-US" sz="1200" dirty="0">
                <a:solidFill>
                  <a:srgbClr val="6E8F9B"/>
                </a:solidFill>
                <a:latin typeface="IBM Plex Sans" pitchFamily="34" charset="0"/>
                <a:ea typeface="IBM Plex Sans" pitchFamily="34" charset="-122"/>
                <a:cs typeface="IBM Plex Sans" pitchFamily="34" charset="-120"/>
              </a:rPr>
              <a:t>Franja horaria fuera hasta corregir la celda 120 · destinos: bloque 2002-2026 · estaciones: 1950-2026</a:t>
            </a:r>
            <a:endParaRPr lang="en-US" sz="1200" dirty="0"/>
          </a:p>
        </p:txBody>
      </p:sp>
      <p:sp>
        <p:nvSpPr>
          <p:cNvPr id="200" name="Shape 200"/>
          <p:cNvSpPr/>
          <p:nvPr/>
        </p:nvSpPr>
        <p:spPr>
          <a:xfrm>
            <a:off x="812800" y="1700000"/>
            <a:ext cx="10566400" cy="880000"/>
          </a:xfrm>
          <a:prstGeom prst="rect">
            <a:avLst/>
          </a:prstGeom>
          <a:solidFill>
            <a:srgbClr val="2A1810"/>
          </a:solidFill>
          <a:ln/>
        </p:spPr>
        <p:txBody>
          <a:bodyPr/>
          <a:lstStyle/>
          <a:p>
            <a:endParaRPr lang="pt-PT"/>
          </a:p>
        </p:txBody>
      </p:sp>
      <p:sp>
        <p:nvSpPr>
          <p:cNvPr id="201" name="Shape 201"/>
          <p:cNvSpPr/>
          <p:nvPr/>
        </p:nvSpPr>
        <p:spPr>
          <a:xfrm>
            <a:off x="831850" y="1700000"/>
            <a:ext cx="0" cy="880000"/>
          </a:xfrm>
          <a:prstGeom prst="line">
            <a:avLst/>
          </a:prstGeom>
          <a:noFill/>
          <a:ln w="38100">
            <a:solidFill>
              <a:srgbClr val="B33A1A"/>
            </a:solidFill>
            <a:prstDash val="solid"/>
          </a:ln>
        </p:spPr>
        <p:txBody>
          <a:bodyPr/>
          <a:lstStyle/>
          <a:p>
            <a:endParaRPr lang="pt-PT"/>
          </a:p>
        </p:txBody>
      </p:sp>
      <p:sp>
        <p:nvSpPr>
          <p:cNvPr id="202" name="Text 202"/>
          <p:cNvSpPr txBox="1"/>
          <p:nvPr/>
        </p:nvSpPr>
        <p:spPr>
          <a:xfrm>
            <a:off x="1051560" y="1870000"/>
            <a:ext cx="2100000" cy="300000"/>
          </a:xfrm>
          <a:prstGeom prst="rect">
            <a:avLst/>
          </a:prstGeom>
          <a:noFill/>
          <a:ln/>
        </p:spPr>
        <p:txBody>
          <a:bodyPr wrap="square" lIns="0" tIns="0" rIns="0" bIns="0" rtlCol="0" anchor="t">
            <a:noAutofit/>
          </a:bodyPr>
          <a:lstStyle/>
          <a:p>
            <a:pPr marL="0" indent="0" algn="l">
              <a:lnSpc>
                <a:spcPts val="1820"/>
              </a:lnSpc>
              <a:buNone/>
            </a:pPr>
            <a:r>
              <a:rPr lang="es-ES" sz="1300" spc="150" dirty="0">
                <a:solidFill>
                  <a:srgbClr val="E0B4A2"/>
                </a:solidFill>
                <a:latin typeface="Oswald" pitchFamily="34" charset="0"/>
                <a:ea typeface="Oswald" pitchFamily="34" charset="-122"/>
                <a:cs typeface="Oswald" pitchFamily="34" charset="-120"/>
              </a:rPr>
              <a:t>ROJA · REFORZAR</a:t>
            </a:r>
            <a:endParaRPr lang="es-ES" sz="1300" dirty="0"/>
          </a:p>
        </p:txBody>
      </p:sp>
      <p:sp>
        <p:nvSpPr>
          <p:cNvPr id="203" name="Text 203"/>
          <p:cNvSpPr txBox="1"/>
          <p:nvPr/>
        </p:nvSpPr>
        <p:spPr>
          <a:xfrm>
            <a:off x="3250000" y="1830000"/>
            <a:ext cx="7900000" cy="650000"/>
          </a:xfrm>
          <a:prstGeom prst="rect">
            <a:avLst/>
          </a:prstGeom>
          <a:noFill/>
          <a:ln/>
        </p:spPr>
        <p:txBody>
          <a:bodyPr wrap="square" lIns="0" tIns="0" rIns="0" bIns="0" rtlCol="0" anchor="t">
            <a:noAutofit/>
          </a:bodyPr>
          <a:lstStyle/>
          <a:p>
            <a:pPr marL="0" indent="0" algn="l">
              <a:lnSpc>
                <a:spcPts val="2000"/>
              </a:lnSpc>
              <a:buNone/>
            </a:pPr>
            <a:r>
              <a:rPr lang="es-ES" sz="1450" dirty="0">
                <a:solidFill>
                  <a:srgbClr val="F2EEE3"/>
                </a:solidFill>
                <a:latin typeface="IBM Plex Sans" pitchFamily="34" charset="0"/>
                <a:ea typeface="IBM Plex Sans" pitchFamily="34" charset="-122"/>
                <a:cs typeface="IBM Plex Sans" pitchFamily="34" charset="-120"/>
              </a:rPr>
              <a:t>Florida concentra el </a:t>
            </a:r>
            <a:r>
              <a:rPr lang="es-ES" sz="1450" b="1" dirty="0">
                <a:solidFill>
                  <a:srgbClr val="F2EEE3"/>
                </a:solidFill>
                <a:latin typeface="IBM Plex Sans" pitchFamily="34" charset="0"/>
                <a:ea typeface="IBM Plex Sans" pitchFamily="34" charset="-122"/>
                <a:cs typeface="IBM Plex Sans" pitchFamily="34" charset="-120"/>
              </a:rPr>
              <a:t>32,9%</a:t>
            </a:r>
            <a:r>
              <a:rPr lang="es-ES" sz="1450" dirty="0">
                <a:solidFill>
                  <a:srgbClr val="F2EEE3"/>
                </a:solidFill>
                <a:latin typeface="IBM Plex Sans" pitchFamily="34" charset="0"/>
                <a:ea typeface="IBM Plex Sans" pitchFamily="34" charset="-122"/>
                <a:cs typeface="IBM Plex Sans" pitchFamily="34" charset="-120"/>
              </a:rPr>
              <a:t> de los ataques a surfistas del mundo desde 1950. Reunión: 23 ataques desde 2002, 8 mortales. Solo con protocolo reforzado.</a:t>
            </a:r>
            <a:endParaRPr lang="es-ES" sz="1450" dirty="0"/>
          </a:p>
        </p:txBody>
      </p:sp>
      <p:sp>
        <p:nvSpPr>
          <p:cNvPr id="210" name="Shape 210"/>
          <p:cNvSpPr/>
          <p:nvPr/>
        </p:nvSpPr>
        <p:spPr>
          <a:xfrm>
            <a:off x="812800" y="2710000"/>
            <a:ext cx="10566400" cy="880000"/>
          </a:xfrm>
          <a:prstGeom prst="rect">
            <a:avLst/>
          </a:prstGeom>
          <a:solidFill>
            <a:srgbClr val="12303F"/>
          </a:solidFill>
          <a:ln/>
        </p:spPr>
        <p:txBody>
          <a:bodyPr/>
          <a:lstStyle/>
          <a:p>
            <a:endParaRPr lang="pt-PT"/>
          </a:p>
        </p:txBody>
      </p:sp>
      <p:sp>
        <p:nvSpPr>
          <p:cNvPr id="211" name="Shape 211"/>
          <p:cNvSpPr/>
          <p:nvPr/>
        </p:nvSpPr>
        <p:spPr>
          <a:xfrm>
            <a:off x="831850" y="2710000"/>
            <a:ext cx="0" cy="880000"/>
          </a:xfrm>
          <a:prstGeom prst="line">
            <a:avLst/>
          </a:prstGeom>
          <a:noFill/>
          <a:ln w="38100">
            <a:solidFill>
              <a:srgbClr val="D9A32B"/>
            </a:solidFill>
            <a:prstDash val="solid"/>
          </a:ln>
        </p:spPr>
        <p:txBody>
          <a:bodyPr/>
          <a:lstStyle/>
          <a:p>
            <a:endParaRPr lang="pt-PT"/>
          </a:p>
        </p:txBody>
      </p:sp>
      <p:sp>
        <p:nvSpPr>
          <p:cNvPr id="212" name="Text 212"/>
          <p:cNvSpPr txBox="1"/>
          <p:nvPr/>
        </p:nvSpPr>
        <p:spPr>
          <a:xfrm>
            <a:off x="1051560" y="2880000"/>
            <a:ext cx="2100000" cy="300000"/>
          </a:xfrm>
          <a:prstGeom prst="rect">
            <a:avLst/>
          </a:prstGeom>
          <a:noFill/>
          <a:ln/>
        </p:spPr>
        <p:txBody>
          <a:bodyPr wrap="square" lIns="0" tIns="0" rIns="0" bIns="0" rtlCol="0" anchor="t">
            <a:noAutofit/>
          </a:bodyPr>
          <a:lstStyle/>
          <a:p>
            <a:pPr marL="0" indent="0" algn="l">
              <a:lnSpc>
                <a:spcPts val="1820"/>
              </a:lnSpc>
              <a:buNone/>
            </a:pPr>
            <a:r>
              <a:rPr lang="es-ES" sz="1300" spc="150" dirty="0">
                <a:solidFill>
                  <a:srgbClr val="E8C069"/>
                </a:solidFill>
                <a:latin typeface="Oswald" pitchFamily="34" charset="0"/>
                <a:ea typeface="Oswald" pitchFamily="34" charset="-122"/>
                <a:cs typeface="Oswald" pitchFamily="34" charset="-120"/>
              </a:rPr>
              <a:t>AMARILLA · VIGILAR</a:t>
            </a:r>
            <a:endParaRPr lang="es-ES" sz="1300" dirty="0"/>
          </a:p>
        </p:txBody>
      </p:sp>
      <p:sp>
        <p:nvSpPr>
          <p:cNvPr id="213" name="Text 213"/>
          <p:cNvSpPr txBox="1"/>
          <p:nvPr/>
        </p:nvSpPr>
        <p:spPr>
          <a:xfrm>
            <a:off x="3250000" y="2840000"/>
            <a:ext cx="7900000" cy="650000"/>
          </a:xfrm>
          <a:prstGeom prst="rect">
            <a:avLst/>
          </a:prstGeom>
          <a:noFill/>
          <a:ln/>
        </p:spPr>
        <p:txBody>
          <a:bodyPr wrap="square" lIns="0" tIns="0" rIns="0" bIns="0" rtlCol="0" anchor="t">
            <a:noAutofit/>
          </a:bodyPr>
          <a:lstStyle/>
          <a:p>
            <a:pPr marL="0" indent="0" algn="l">
              <a:lnSpc>
                <a:spcPts val="2000"/>
              </a:lnSpc>
              <a:buNone/>
            </a:pPr>
            <a:r>
              <a:rPr lang="es-ES" sz="1450" dirty="0">
                <a:solidFill>
                  <a:srgbClr val="F2EEE3"/>
                </a:solidFill>
                <a:latin typeface="IBM Plex Sans" pitchFamily="34" charset="0"/>
                <a:ea typeface="IBM Plex Sans" pitchFamily="34" charset="-122"/>
                <a:cs typeface="IBM Plex Sans" pitchFamily="34" charset="-120"/>
              </a:rPr>
              <a:t>Reforzar la vigilancia en </a:t>
            </a:r>
            <a:r>
              <a:rPr lang="es-ES" sz="1450" b="1" dirty="0">
                <a:solidFill>
                  <a:srgbClr val="F2EEE3"/>
                </a:solidFill>
                <a:latin typeface="IBM Plex Sans" pitchFamily="34" charset="0"/>
                <a:ea typeface="IBM Plex Sans" pitchFamily="34" charset="-122"/>
                <a:cs typeface="IBM Plex Sans" pitchFamily="34" charset="-120"/>
              </a:rPr>
              <a:t>otoño en Florida y California</a:t>
            </a:r>
            <a:r>
              <a:rPr lang="es-ES" sz="1450" dirty="0">
                <a:solidFill>
                  <a:srgbClr val="F2EEE3"/>
                </a:solidFill>
                <a:latin typeface="IBM Plex Sans" pitchFamily="34" charset="0"/>
                <a:ea typeface="IBM Plex Sans" pitchFamily="34" charset="-122"/>
                <a:cs typeface="IBM Plex Sans" pitchFamily="34" charset="-120"/>
              </a:rPr>
              <a:t> y en </a:t>
            </a:r>
            <a:r>
              <a:rPr lang="es-ES" sz="1450" b="1" dirty="0">
                <a:solidFill>
                  <a:srgbClr val="F2EEE3"/>
                </a:solidFill>
                <a:latin typeface="IBM Plex Sans" pitchFamily="34" charset="0"/>
                <a:ea typeface="IBM Plex Sans" pitchFamily="34" charset="-122"/>
                <a:cs typeface="IBM Plex Sans" pitchFamily="34" charset="-120"/>
              </a:rPr>
              <a:t>verano en Carolina del Sur</a:t>
            </a:r>
            <a:r>
              <a:rPr lang="es-ES" sz="1450" dirty="0">
                <a:solidFill>
                  <a:srgbClr val="F2EEE3"/>
                </a:solidFill>
                <a:latin typeface="IBM Plex Sans" pitchFamily="34" charset="0"/>
                <a:ea typeface="IBM Plex Sans" pitchFamily="34" charset="-122"/>
                <a:cs typeface="IBM Plex Sans" pitchFamily="34" charset="-120"/>
              </a:rPr>
              <a:t>, sin cerrar el resto del año.</a:t>
            </a:r>
            <a:endParaRPr lang="es-ES" sz="1450" dirty="0"/>
          </a:p>
        </p:txBody>
      </p:sp>
      <p:sp>
        <p:nvSpPr>
          <p:cNvPr id="220" name="Shape 220"/>
          <p:cNvSpPr/>
          <p:nvPr/>
        </p:nvSpPr>
        <p:spPr>
          <a:xfrm>
            <a:off x="812800" y="3720000"/>
            <a:ext cx="10566400" cy="880000"/>
          </a:xfrm>
          <a:prstGeom prst="rect">
            <a:avLst/>
          </a:prstGeom>
          <a:solidFill>
            <a:srgbClr val="12303F"/>
          </a:solidFill>
          <a:ln/>
        </p:spPr>
        <p:txBody>
          <a:bodyPr/>
          <a:lstStyle/>
          <a:p>
            <a:endParaRPr lang="pt-PT"/>
          </a:p>
        </p:txBody>
      </p:sp>
      <p:sp>
        <p:nvSpPr>
          <p:cNvPr id="221" name="Shape 221"/>
          <p:cNvSpPr/>
          <p:nvPr/>
        </p:nvSpPr>
        <p:spPr>
          <a:xfrm>
            <a:off x="831850" y="3720000"/>
            <a:ext cx="0" cy="880000"/>
          </a:xfrm>
          <a:prstGeom prst="line">
            <a:avLst/>
          </a:prstGeom>
          <a:noFill/>
          <a:ln w="38100">
            <a:solidFill>
              <a:srgbClr val="2E7D4F"/>
            </a:solidFill>
            <a:prstDash val="solid"/>
          </a:ln>
        </p:spPr>
        <p:txBody>
          <a:bodyPr/>
          <a:lstStyle/>
          <a:p>
            <a:endParaRPr lang="pt-PT"/>
          </a:p>
        </p:txBody>
      </p:sp>
      <p:sp>
        <p:nvSpPr>
          <p:cNvPr id="222" name="Text 222"/>
          <p:cNvSpPr txBox="1"/>
          <p:nvPr/>
        </p:nvSpPr>
        <p:spPr>
          <a:xfrm>
            <a:off x="1051560" y="3890000"/>
            <a:ext cx="2100000" cy="300000"/>
          </a:xfrm>
          <a:prstGeom prst="rect">
            <a:avLst/>
          </a:prstGeom>
          <a:noFill/>
          <a:ln/>
        </p:spPr>
        <p:txBody>
          <a:bodyPr wrap="square" lIns="0" tIns="0" rIns="0" bIns="0" rtlCol="0" anchor="t">
            <a:noAutofit/>
          </a:bodyPr>
          <a:lstStyle/>
          <a:p>
            <a:pPr marL="0" indent="0" algn="l">
              <a:lnSpc>
                <a:spcPts val="1820"/>
              </a:lnSpc>
              <a:buNone/>
            </a:pPr>
            <a:r>
              <a:rPr lang="es-ES" sz="1300" spc="150" dirty="0">
                <a:solidFill>
                  <a:srgbClr val="7FCFA0"/>
                </a:solidFill>
                <a:latin typeface="Oswald" pitchFamily="34" charset="0"/>
                <a:ea typeface="Oswald" pitchFamily="34" charset="-122"/>
                <a:cs typeface="Oswald" pitchFamily="34" charset="-120"/>
              </a:rPr>
              <a:t>VERDE · ABRIR</a:t>
            </a:r>
            <a:endParaRPr lang="es-ES" sz="1300" dirty="0"/>
          </a:p>
        </p:txBody>
      </p:sp>
      <p:sp>
        <p:nvSpPr>
          <p:cNvPr id="223" name="Text 223"/>
          <p:cNvSpPr txBox="1"/>
          <p:nvPr/>
        </p:nvSpPr>
        <p:spPr>
          <a:xfrm>
            <a:off x="3250000" y="3850000"/>
            <a:ext cx="7900000" cy="650000"/>
          </a:xfrm>
          <a:prstGeom prst="rect">
            <a:avLst/>
          </a:prstGeom>
          <a:noFill/>
          <a:ln/>
        </p:spPr>
        <p:txBody>
          <a:bodyPr wrap="square" lIns="0" tIns="0" rIns="0" bIns="0" rtlCol="0" anchor="t">
            <a:noAutofit/>
          </a:bodyPr>
          <a:lstStyle/>
          <a:p>
            <a:pPr marL="0" indent="0" algn="l">
              <a:lnSpc>
                <a:spcPts val="2000"/>
              </a:lnSpc>
              <a:buNone/>
            </a:pPr>
            <a:r>
              <a:rPr lang="es-ES" sz="1450" b="1" dirty="0">
                <a:solidFill>
                  <a:srgbClr val="F2EEE3"/>
                </a:solidFill>
                <a:latin typeface="IBM Plex Sans" pitchFamily="34" charset="0"/>
                <a:ea typeface="IBM Plex Sans" pitchFamily="34" charset="-122"/>
                <a:cs typeface="IBM Plex Sans" pitchFamily="34" charset="-120"/>
              </a:rPr>
              <a:t>Portugal, Francia y Marruecos</a:t>
            </a:r>
            <a:r>
              <a:rPr lang="es-ES" sz="1450" dirty="0">
                <a:solidFill>
                  <a:srgbClr val="F2EEE3"/>
                </a:solidFill>
                <a:latin typeface="IBM Plex Sans" pitchFamily="34" charset="0"/>
                <a:ea typeface="IBM Plex Sans" pitchFamily="34" charset="-122"/>
                <a:cs typeface="IBM Plex Sans" pitchFamily="34" charset="-120"/>
              </a:rPr>
              <a:t>: ningún ataque registrado a surfistas desde 1950, y con escuelas ya operando.</a:t>
            </a:r>
            <a:endParaRPr lang="es-ES" sz="1450" dirty="0"/>
          </a:p>
        </p:txBody>
      </p:sp>
      <p:sp>
        <p:nvSpPr>
          <p:cNvPr id="230" name="Shape 230"/>
          <p:cNvSpPr/>
          <p:nvPr/>
        </p:nvSpPr>
        <p:spPr>
          <a:xfrm>
            <a:off x="812800" y="4730000"/>
            <a:ext cx="10566400" cy="880000"/>
          </a:xfrm>
          <a:prstGeom prst="rect">
            <a:avLst/>
          </a:prstGeom>
          <a:solidFill>
            <a:srgbClr val="12303F"/>
          </a:solidFill>
          <a:ln/>
        </p:spPr>
        <p:txBody>
          <a:bodyPr/>
          <a:lstStyle/>
          <a:p>
            <a:endParaRPr lang="pt-PT"/>
          </a:p>
        </p:txBody>
      </p:sp>
      <p:sp>
        <p:nvSpPr>
          <p:cNvPr id="231" name="Shape 231"/>
          <p:cNvSpPr/>
          <p:nvPr/>
        </p:nvSpPr>
        <p:spPr>
          <a:xfrm>
            <a:off x="831850" y="4730000"/>
            <a:ext cx="0" cy="880000"/>
          </a:xfrm>
          <a:prstGeom prst="line">
            <a:avLst/>
          </a:prstGeom>
          <a:noFill/>
          <a:ln w="38100">
            <a:solidFill>
              <a:srgbClr val="4C7C8C"/>
            </a:solidFill>
            <a:prstDash val="solid"/>
          </a:ln>
        </p:spPr>
        <p:txBody>
          <a:bodyPr/>
          <a:lstStyle/>
          <a:p>
            <a:endParaRPr lang="pt-PT"/>
          </a:p>
        </p:txBody>
      </p:sp>
      <p:sp>
        <p:nvSpPr>
          <p:cNvPr id="232" name="Text 232"/>
          <p:cNvSpPr txBox="1"/>
          <p:nvPr/>
        </p:nvSpPr>
        <p:spPr>
          <a:xfrm>
            <a:off x="1051560" y="4900000"/>
            <a:ext cx="2100000" cy="300000"/>
          </a:xfrm>
          <a:prstGeom prst="rect">
            <a:avLst/>
          </a:prstGeom>
          <a:noFill/>
          <a:ln/>
        </p:spPr>
        <p:txBody>
          <a:bodyPr wrap="square" lIns="0" tIns="0" rIns="0" bIns="0" rtlCol="0" anchor="t">
            <a:noAutofit/>
          </a:bodyPr>
          <a:lstStyle/>
          <a:p>
            <a:pPr marL="0" indent="0" algn="l">
              <a:lnSpc>
                <a:spcPts val="1820"/>
              </a:lnSpc>
              <a:buNone/>
            </a:pPr>
            <a:r>
              <a:rPr lang="es-ES" sz="1300" spc="150" dirty="0">
                <a:solidFill>
                  <a:srgbClr val="8FBAC6"/>
                </a:solidFill>
                <a:latin typeface="Oswald" pitchFamily="34" charset="0"/>
                <a:ea typeface="Oswald" pitchFamily="34" charset="-122"/>
                <a:cs typeface="Oswald" pitchFamily="34" charset="-120"/>
              </a:rPr>
              <a:t>EXPERIMENTO</a:t>
            </a:r>
            <a:endParaRPr lang="es-ES" sz="1300" dirty="0"/>
          </a:p>
        </p:txBody>
      </p:sp>
      <p:sp>
        <p:nvSpPr>
          <p:cNvPr id="233" name="Text 233"/>
          <p:cNvSpPr txBox="1"/>
          <p:nvPr/>
        </p:nvSpPr>
        <p:spPr>
          <a:xfrm>
            <a:off x="3250000" y="4860000"/>
            <a:ext cx="7900000" cy="650000"/>
          </a:xfrm>
          <a:prstGeom prst="rect">
            <a:avLst/>
          </a:prstGeom>
          <a:noFill/>
          <a:ln/>
        </p:spPr>
        <p:txBody>
          <a:bodyPr wrap="square" lIns="0" tIns="0" rIns="0" bIns="0" rtlCol="0" anchor="t">
            <a:noAutofit/>
          </a:bodyPr>
          <a:lstStyle/>
          <a:p>
            <a:pPr marL="0" indent="0" algn="l">
              <a:lnSpc>
                <a:spcPts val="2000"/>
              </a:lnSpc>
              <a:buNone/>
            </a:pPr>
            <a:r>
              <a:rPr lang="es-ES" sz="1450" dirty="0">
                <a:solidFill>
                  <a:srgbClr val="F2EEE3"/>
                </a:solidFill>
                <a:latin typeface="IBM Plex Sans" pitchFamily="34" charset="0"/>
                <a:ea typeface="IBM Plex Sans" pitchFamily="34" charset="-122"/>
                <a:cs typeface="IBM Plex Sans" pitchFamily="34" charset="-120"/>
              </a:rPr>
              <a:t>Contar alumnos en el agua por franja durante una temporada. Es el dato que nos falta para pasar de volumen de casos a riesgo por persona.</a:t>
            </a:r>
            <a:endParaRPr lang="es-E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2EE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85470"/>
          </a:xfrm>
          <a:prstGeom prst="rect">
            <a:avLst/>
          </a:prstGeom>
          <a:noFill/>
          <a:ln/>
        </p:spPr>
        <p:txBody>
          <a:bodyPr wrap="square" lIns="0" tIns="0" rIns="0" bIns="0" rtlCol="0" anchor="t">
            <a:normAutofit/>
          </a:bodyPr>
          <a:lstStyle/>
          <a:p>
            <a:pPr marL="0" indent="0" algn="l">
              <a:lnSpc>
                <a:spcPts val="4410"/>
              </a:lnSpc>
              <a:buNone/>
            </a:pPr>
            <a:r>
              <a:rPr lang="en-US" sz="4200" b="1" dirty="0">
                <a:solidFill>
                  <a:srgbClr val="12303F"/>
                </a:solidFill>
                <a:latin typeface="Oswald" pitchFamily="34" charset="0"/>
                <a:ea typeface="Oswald" pitchFamily="34" charset="-122"/>
                <a:cs typeface="Oswald" pitchFamily="34" charset="-120"/>
              </a:rPr>
              <a:t>Lo que estos datos no pueden decir</a:t>
            </a:r>
            <a:endParaRPr lang="en-US" sz="4200" dirty="0"/>
          </a:p>
        </p:txBody>
      </p:sp>
      <p:sp>
        <p:nvSpPr>
          <p:cNvPr id="3" name="Text 1"/>
          <p:cNvSpPr/>
          <p:nvPr/>
        </p:nvSpPr>
        <p:spPr>
          <a:xfrm>
            <a:off x="812800" y="1449077"/>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B7480"/>
                </a:solidFill>
                <a:latin typeface="IBM Plex Sans" pitchFamily="34" charset="0"/>
                <a:ea typeface="IBM Plex Sans" pitchFamily="34" charset="-122"/>
                <a:cs typeface="IBM Plex Sans" pitchFamily="34" charset="-120"/>
              </a:rPr>
              <a:t>Saber dónde acaba el dato es parte del análisis, no una disculpa</a:t>
            </a:r>
            <a:endParaRPr lang="en-US" sz="1600" dirty="0"/>
          </a:p>
        </p:txBody>
      </p:sp>
      <p:sp>
        <p:nvSpPr>
          <p:cNvPr id="4" name="Shape 2"/>
          <p:cNvSpPr/>
          <p:nvPr/>
        </p:nvSpPr>
        <p:spPr>
          <a:xfrm>
            <a:off x="812800" y="2930207"/>
            <a:ext cx="10566400" cy="0"/>
          </a:xfrm>
          <a:prstGeom prst="line">
            <a:avLst/>
          </a:prstGeom>
          <a:noFill/>
          <a:ln w="6350">
            <a:solidFill>
              <a:srgbClr val="C8BFA8"/>
            </a:solidFill>
            <a:prstDash val="solid"/>
          </a:ln>
        </p:spPr>
        <p:txBody>
          <a:bodyPr/>
          <a:lstStyle/>
          <a:p>
            <a:endParaRPr lang="pt-PT"/>
          </a:p>
        </p:txBody>
      </p:sp>
      <p:sp>
        <p:nvSpPr>
          <p:cNvPr id="5" name="Text 3"/>
          <p:cNvSpPr/>
          <p:nvPr/>
        </p:nvSpPr>
        <p:spPr>
          <a:xfrm>
            <a:off x="812800" y="1987550"/>
            <a:ext cx="558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33A1A"/>
                </a:solidFill>
                <a:latin typeface="Oswald" pitchFamily="34" charset="0"/>
                <a:ea typeface="Oswald" pitchFamily="34" charset="-122"/>
                <a:cs typeface="Oswald" pitchFamily="34" charset="-120"/>
              </a:rPr>
              <a:t>01</a:t>
            </a:r>
            <a:endParaRPr lang="en-US" sz="2200" dirty="0"/>
          </a:p>
        </p:txBody>
      </p:sp>
      <p:sp>
        <p:nvSpPr>
          <p:cNvPr id="6" name="Text 4"/>
          <p:cNvSpPr/>
          <p:nvPr/>
        </p:nvSpPr>
        <p:spPr>
          <a:xfrm>
            <a:off x="1524000" y="1987550"/>
            <a:ext cx="2747010" cy="28956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2303F"/>
                </a:solidFill>
                <a:latin typeface="IBM Plex Sans" pitchFamily="34" charset="0"/>
                <a:ea typeface="IBM Plex Sans" pitchFamily="34" charset="-122"/>
                <a:cs typeface="IBM Plex Sans" pitchFamily="34" charset="-120"/>
              </a:rPr>
              <a:t>Ataques, no surfistas</a:t>
            </a:r>
            <a:endParaRPr lang="en-US" sz="1600" dirty="0"/>
          </a:p>
        </p:txBody>
      </p:sp>
      <p:sp>
        <p:nvSpPr>
          <p:cNvPr id="7" name="Text 5"/>
          <p:cNvSpPr/>
          <p:nvPr/>
        </p:nvSpPr>
        <p:spPr>
          <a:xfrm>
            <a:off x="4394200" y="1987550"/>
            <a:ext cx="6475095" cy="826453"/>
          </a:xfrm>
          <a:prstGeom prst="rect">
            <a:avLst/>
          </a:prstGeom>
          <a:noFill/>
          <a:ln/>
        </p:spPr>
        <p:txBody>
          <a:bodyPr wrap="square" lIns="0" tIns="0" rIns="0" bIns="0" rtlCol="0" anchor="t">
            <a:normAutofit/>
          </a:bodyPr>
          <a:lstStyle/>
          <a:p>
            <a:pPr marL="0" indent="0" algn="l">
              <a:lnSpc>
                <a:spcPts val="2103"/>
              </a:lnSpc>
              <a:buNone/>
            </a:pPr>
            <a:r>
              <a:rPr lang="en-US" sz="1450" dirty="0">
                <a:solidFill>
                  <a:srgbClr val="3F5D6B"/>
                </a:solidFill>
                <a:latin typeface="IBM Plex Sans" pitchFamily="34" charset="0"/>
                <a:ea typeface="IBM Plex Sans" pitchFamily="34" charset="-122"/>
                <a:cs typeface="IBM Plex Sans" pitchFamily="34" charset="-120"/>
              </a:rPr>
              <a:t>Medimos volumen de casos, no probabilidad por persona. Un sitio con muchos ataques puede ser sencillamente un sitio con mucha gente en el agua.</a:t>
            </a:r>
            <a:endParaRPr lang="en-US" sz="1450" dirty="0"/>
          </a:p>
        </p:txBody>
      </p:sp>
      <p:sp>
        <p:nvSpPr>
          <p:cNvPr id="8" name="Shape 6"/>
          <p:cNvSpPr/>
          <p:nvPr/>
        </p:nvSpPr>
        <p:spPr>
          <a:xfrm>
            <a:off x="812800" y="4015747"/>
            <a:ext cx="10566400" cy="0"/>
          </a:xfrm>
          <a:prstGeom prst="line">
            <a:avLst/>
          </a:prstGeom>
          <a:noFill/>
          <a:ln w="6350">
            <a:solidFill>
              <a:srgbClr val="C8BFA8"/>
            </a:solidFill>
            <a:prstDash val="solid"/>
          </a:ln>
        </p:spPr>
        <p:txBody>
          <a:bodyPr/>
          <a:lstStyle/>
          <a:p>
            <a:endParaRPr lang="pt-PT"/>
          </a:p>
        </p:txBody>
      </p:sp>
      <p:sp>
        <p:nvSpPr>
          <p:cNvPr id="9" name="Text 7"/>
          <p:cNvSpPr/>
          <p:nvPr/>
        </p:nvSpPr>
        <p:spPr>
          <a:xfrm>
            <a:off x="812800" y="3073090"/>
            <a:ext cx="558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33A1A"/>
                </a:solidFill>
                <a:latin typeface="Oswald" pitchFamily="34" charset="0"/>
                <a:ea typeface="Oswald" pitchFamily="34" charset="-122"/>
                <a:cs typeface="Oswald" pitchFamily="34" charset="-120"/>
              </a:rPr>
              <a:t>02</a:t>
            </a:r>
            <a:endParaRPr lang="en-US" sz="2200" dirty="0"/>
          </a:p>
        </p:txBody>
      </p:sp>
      <p:sp>
        <p:nvSpPr>
          <p:cNvPr id="10" name="Text 8"/>
          <p:cNvSpPr/>
          <p:nvPr/>
        </p:nvSpPr>
        <p:spPr>
          <a:xfrm>
            <a:off x="1524000" y="3073090"/>
            <a:ext cx="2747010" cy="28956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2303F"/>
                </a:solidFill>
                <a:latin typeface="IBM Plex Sans" pitchFamily="34" charset="0"/>
                <a:ea typeface="IBM Plex Sans" pitchFamily="34" charset="-122"/>
                <a:cs typeface="IBM Plex Sans" pitchFamily="34" charset="-120"/>
              </a:rPr>
              <a:t>El registro no es uniforme</a:t>
            </a:r>
            <a:endParaRPr lang="en-US" sz="1600" dirty="0"/>
          </a:p>
        </p:txBody>
      </p:sp>
      <p:sp>
        <p:nvSpPr>
          <p:cNvPr id="11" name="Text 9"/>
          <p:cNvSpPr/>
          <p:nvPr/>
        </p:nvSpPr>
        <p:spPr>
          <a:xfrm>
            <a:off x="4394200" y="3073090"/>
            <a:ext cx="6475095" cy="826453"/>
          </a:xfrm>
          <a:prstGeom prst="rect">
            <a:avLst/>
          </a:prstGeom>
          <a:noFill/>
          <a:ln/>
        </p:spPr>
        <p:txBody>
          <a:bodyPr wrap="square" lIns="0" tIns="0" rIns="0" bIns="0" rtlCol="0" anchor="t">
            <a:normAutofit/>
          </a:bodyPr>
          <a:lstStyle/>
          <a:p>
            <a:pPr marL="0" indent="0" algn="l">
              <a:lnSpc>
                <a:spcPts val="2103"/>
              </a:lnSpc>
              <a:buNone/>
            </a:pPr>
            <a:r>
              <a:rPr lang="en-US" sz="1450" dirty="0">
                <a:solidFill>
                  <a:srgbClr val="3F5D6B"/>
                </a:solidFill>
                <a:latin typeface="IBM Plex Sans" pitchFamily="34" charset="0"/>
                <a:ea typeface="IBM Plex Sans" pitchFamily="34" charset="-122"/>
                <a:cs typeface="IBM Plex Sans" pitchFamily="34" charset="-120"/>
              </a:rPr>
              <a:t>Los países con más medios documentan más casos, y hoy se documenta mejor que hace setenta años. Por eso comparamos tasas entre cohortes y no recuentos.</a:t>
            </a:r>
            <a:endParaRPr lang="en-US" sz="1450" dirty="0"/>
          </a:p>
        </p:txBody>
      </p:sp>
      <p:sp>
        <p:nvSpPr>
          <p:cNvPr id="12" name="Shape 10"/>
          <p:cNvSpPr/>
          <p:nvPr/>
        </p:nvSpPr>
        <p:spPr>
          <a:xfrm>
            <a:off x="812800" y="4834257"/>
            <a:ext cx="10566400" cy="0"/>
          </a:xfrm>
          <a:prstGeom prst="line">
            <a:avLst/>
          </a:prstGeom>
          <a:noFill/>
          <a:ln w="6350">
            <a:solidFill>
              <a:srgbClr val="C8BFA8"/>
            </a:solidFill>
            <a:prstDash val="solid"/>
          </a:ln>
        </p:spPr>
        <p:txBody>
          <a:bodyPr/>
          <a:lstStyle/>
          <a:p>
            <a:endParaRPr lang="pt-PT"/>
          </a:p>
        </p:txBody>
      </p:sp>
      <p:sp>
        <p:nvSpPr>
          <p:cNvPr id="13" name="Text 11"/>
          <p:cNvSpPr/>
          <p:nvPr/>
        </p:nvSpPr>
        <p:spPr>
          <a:xfrm>
            <a:off x="812800" y="4158617"/>
            <a:ext cx="558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33A1A"/>
                </a:solidFill>
                <a:latin typeface="Oswald" pitchFamily="34" charset="0"/>
                <a:ea typeface="Oswald" pitchFamily="34" charset="-122"/>
                <a:cs typeface="Oswald" pitchFamily="34" charset="-120"/>
              </a:rPr>
              <a:t>03</a:t>
            </a:r>
            <a:endParaRPr lang="en-US" sz="2200" dirty="0"/>
          </a:p>
        </p:txBody>
      </p:sp>
      <p:sp>
        <p:nvSpPr>
          <p:cNvPr id="14" name="Text 12"/>
          <p:cNvSpPr/>
          <p:nvPr/>
        </p:nvSpPr>
        <p:spPr>
          <a:xfrm>
            <a:off x="1524000" y="4158617"/>
            <a:ext cx="2747010" cy="5537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2303F"/>
                </a:solidFill>
                <a:latin typeface="IBM Plex Sans" pitchFamily="34" charset="0"/>
                <a:ea typeface="IBM Plex Sans" pitchFamily="34" charset="-122"/>
                <a:cs typeface="IBM Plex Sans" pitchFamily="34" charset="-120"/>
              </a:rPr>
              <a:t>Un cero es ausencia de registro</a:t>
            </a:r>
            <a:endParaRPr lang="en-US" sz="1600" dirty="0"/>
          </a:p>
        </p:txBody>
      </p:sp>
      <p:sp>
        <p:nvSpPr>
          <p:cNvPr id="15" name="Text 13"/>
          <p:cNvSpPr/>
          <p:nvPr/>
        </p:nvSpPr>
        <p:spPr>
          <a:xfrm>
            <a:off x="4394200" y="4158617"/>
            <a:ext cx="6475095" cy="559435"/>
          </a:xfrm>
          <a:prstGeom prst="rect">
            <a:avLst/>
          </a:prstGeom>
          <a:noFill/>
          <a:ln/>
        </p:spPr>
        <p:txBody>
          <a:bodyPr wrap="square" lIns="0" tIns="0" rIns="0" bIns="0" rtlCol="0" anchor="t">
            <a:normAutofit/>
          </a:bodyPr>
          <a:lstStyle/>
          <a:p>
            <a:pPr marL="0" indent="0" algn="l">
              <a:lnSpc>
                <a:spcPts val="2103"/>
              </a:lnSpc>
              <a:buNone/>
            </a:pPr>
            <a:r>
              <a:rPr lang="en-US" sz="1450" dirty="0">
                <a:solidFill>
                  <a:srgbClr val="3F5D6B"/>
                </a:solidFill>
                <a:latin typeface="IBM Plex Sans" pitchFamily="34" charset="0"/>
                <a:ea typeface="IBM Plex Sans" pitchFamily="34" charset="-122"/>
                <a:cs typeface="IBM Plex Sans" pitchFamily="34" charset="-120"/>
              </a:rPr>
              <a:t>Los destinos sin ataques son nuestra mejor noticia y también nuestra afirmación más frágil. Puede significar que allí se registra peor.</a:t>
            </a:r>
            <a:endParaRPr lang="en-US" sz="1450" dirty="0"/>
          </a:p>
        </p:txBody>
      </p:sp>
      <p:sp>
        <p:nvSpPr>
          <p:cNvPr id="16" name="Text 14"/>
          <p:cNvSpPr/>
          <p:nvPr/>
        </p:nvSpPr>
        <p:spPr>
          <a:xfrm>
            <a:off x="812800" y="4977135"/>
            <a:ext cx="558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33A1A"/>
                </a:solidFill>
                <a:latin typeface="Oswald" pitchFamily="34" charset="0"/>
                <a:ea typeface="Oswald" pitchFamily="34" charset="-122"/>
                <a:cs typeface="Oswald" pitchFamily="34" charset="-120"/>
              </a:rPr>
              <a:t>04</a:t>
            </a:r>
            <a:endParaRPr lang="en-US" sz="2200" dirty="0"/>
          </a:p>
        </p:txBody>
      </p:sp>
      <p:sp>
        <p:nvSpPr>
          <p:cNvPr id="17" name="Text 15"/>
          <p:cNvSpPr/>
          <p:nvPr/>
        </p:nvSpPr>
        <p:spPr>
          <a:xfrm>
            <a:off x="1524000" y="4977135"/>
            <a:ext cx="2747010" cy="5537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2303F"/>
                </a:solidFill>
                <a:latin typeface="IBM Plex Sans" pitchFamily="34" charset="0"/>
                <a:ea typeface="IBM Plex Sans" pitchFamily="34" charset="-122"/>
                <a:cs typeface="IBM Plex Sans" pitchFamily="34" charset="-120"/>
              </a:rPr>
              <a:t>Variables construidas por nosotros</a:t>
            </a:r>
            <a:endParaRPr lang="en-US" sz="1600" dirty="0"/>
          </a:p>
        </p:txBody>
      </p:sp>
      <p:sp>
        <p:nvSpPr>
          <p:cNvPr id="18" name="Text 16"/>
          <p:cNvSpPr/>
          <p:nvPr/>
        </p:nvSpPr>
        <p:spPr>
          <a:xfrm>
            <a:off x="4394200" y="4977135"/>
            <a:ext cx="6475095" cy="826453"/>
          </a:xfrm>
          <a:prstGeom prst="rect">
            <a:avLst/>
          </a:prstGeom>
          <a:noFill/>
          <a:ln/>
        </p:spPr>
        <p:txBody>
          <a:bodyPr wrap="square" lIns="0" tIns="0" rIns="0" bIns="0" rtlCol="0" anchor="t">
            <a:normAutofit/>
          </a:bodyPr>
          <a:lstStyle/>
          <a:p>
            <a:pPr marL="0" indent="0" algn="l">
              <a:lnSpc>
                <a:spcPts val="2103"/>
              </a:lnSpc>
              <a:buNone/>
            </a:pPr>
            <a:r>
              <a:rPr lang="en-US" sz="1450" dirty="0">
                <a:solidFill>
                  <a:srgbClr val="3F5D6B"/>
                </a:solidFill>
                <a:latin typeface="IBM Plex Sans" pitchFamily="34" charset="0"/>
                <a:ea typeface="IBM Plex Sans" pitchFamily="34" charset="-122"/>
                <a:cs typeface="IBM Plex Sans" pitchFamily="34" charset="-120"/>
              </a:rPr>
              <a:t>Actividad, gravedad, estación y franja salen de texto libre con palabras clave. Y las listas de países del hemisferio sur y de 22 destinos son decisiones del equipo, no hallazgos.</a:t>
            </a:r>
            <a:endParaRPr lang="en-US" sz="1450" dirty="0"/>
          </a:p>
        </p:txBody>
      </p:sp>
      <p:sp>
        <p:nvSpPr>
          <p:cNvPr id="19" name="Text 17"/>
          <p:cNvSpPr/>
          <p:nvPr/>
        </p:nvSpPr>
        <p:spPr>
          <a:xfrm>
            <a:off x="812800" y="6238242"/>
            <a:ext cx="5192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B8B92"/>
                </a:solidFill>
                <a:latin typeface="IBM Plex Sans" pitchFamily="34" charset="0"/>
                <a:ea typeface="IBM Plex Sans" pitchFamily="34" charset="-122"/>
                <a:cs typeface="IBM Plex Sans" pitchFamily="34" charset="-120"/>
              </a:rPr>
              <a:t>En el archivo original: time vacía en el 49,5% de los casos y age en el 42%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0B243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20383"/>
          </a:xfrm>
          <a:prstGeom prst="rect">
            <a:avLst/>
          </a:prstGeom>
          <a:noFill/>
          <a:ln/>
        </p:spPr>
        <p:txBody>
          <a:bodyPr wrap="square" lIns="0" tIns="0" rIns="0" bIns="0" rtlCol="0" anchor="t">
            <a:normAutofit/>
          </a:bodyPr>
          <a:lstStyle/>
          <a:p>
            <a:pPr marL="0" indent="0" algn="l">
              <a:lnSpc>
                <a:spcPts val="3914"/>
              </a:lnSpc>
              <a:buNone/>
            </a:pPr>
            <a:r>
              <a:rPr lang="en-US" sz="3728" b="1" dirty="0">
                <a:solidFill>
                  <a:srgbClr val="F2EEE3"/>
                </a:solidFill>
                <a:latin typeface="Oswald" pitchFamily="34" charset="0"/>
                <a:ea typeface="Oswald" pitchFamily="34" charset="-122"/>
                <a:cs typeface="Oswald" pitchFamily="34" charset="-120"/>
              </a:rPr>
              <a:t>Próximos pasos y cómo replicarlo</a:t>
            </a:r>
            <a:endParaRPr lang="en-US" sz="3728" dirty="0"/>
          </a:p>
        </p:txBody>
      </p:sp>
      <p:sp>
        <p:nvSpPr>
          <p:cNvPr id="3" name="Text 1"/>
          <p:cNvSpPr/>
          <p:nvPr/>
        </p:nvSpPr>
        <p:spPr>
          <a:xfrm>
            <a:off x="812800" y="1612590"/>
            <a:ext cx="4944618" cy="25654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8FBAC6"/>
                </a:solidFill>
                <a:latin typeface="Oswald" pitchFamily="34" charset="0"/>
                <a:ea typeface="Oswald" pitchFamily="34" charset="-122"/>
                <a:cs typeface="Oswald" pitchFamily="34" charset="-120"/>
              </a:rPr>
              <a:t>CON MÁS DATOS O MÁS TIEMPO</a:t>
            </a:r>
            <a:endParaRPr lang="en-US" sz="1300" dirty="0"/>
          </a:p>
        </p:txBody>
      </p:sp>
      <p:sp>
        <p:nvSpPr>
          <p:cNvPr id="4" name="Text 2"/>
          <p:cNvSpPr/>
          <p:nvPr/>
        </p:nvSpPr>
        <p:spPr>
          <a:xfrm>
            <a:off x="812800" y="1970720"/>
            <a:ext cx="494461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BCD3DA"/>
                </a:solidFill>
                <a:latin typeface="IBM Plex Sans" pitchFamily="34" charset="0"/>
                <a:ea typeface="IBM Plex Sans" pitchFamily="34" charset="-122"/>
                <a:cs typeface="IBM Plex Sans" pitchFamily="34" charset="-120"/>
              </a:rPr>
              <a:t>Cruzar con turismo o licencias de surf, para pasar de volumen de casos a riesgo por persona. Es lo que desbloquearía todo lo demás.</a:t>
            </a:r>
            <a:endParaRPr lang="en-US" sz="1500" dirty="0"/>
          </a:p>
        </p:txBody>
      </p:sp>
      <p:pic>
        <p:nvPicPr>
          <p:cNvPr id="5" name="Image 0" descr="line"/>
          <p:cNvPicPr>
            <a:picLocks noChangeAspect="1"/>
          </p:cNvPicPr>
          <p:nvPr/>
        </p:nvPicPr>
        <p:blipFill>
          <a:blip r:embed="rId3"/>
          <a:srcRect l="-12500" r="-12500"/>
          <a:stretch/>
        </p:blipFill>
        <p:spPr>
          <a:xfrm>
            <a:off x="812800" y="2954970"/>
            <a:ext cx="4800600" cy="10160"/>
          </a:xfrm>
          <a:prstGeom prst="rect">
            <a:avLst/>
          </a:prstGeom>
        </p:spPr>
      </p:pic>
      <p:sp>
        <p:nvSpPr>
          <p:cNvPr id="6" name="Text 3"/>
          <p:cNvSpPr/>
          <p:nvPr/>
        </p:nvSpPr>
        <p:spPr>
          <a:xfrm>
            <a:off x="812800" y="3092140"/>
            <a:ext cx="494461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BCD3DA"/>
                </a:solidFill>
                <a:latin typeface="IBM Plex Sans" pitchFamily="34" charset="0"/>
                <a:ea typeface="IBM Plex Sans" pitchFamily="34" charset="-122"/>
                <a:cs typeface="IBM Plex Sans" pitchFamily="34" charset="-120"/>
              </a:rPr>
              <a:t>Un mapa interactivo por localidad, con la playa como unidad y no el país.</a:t>
            </a:r>
            <a:endParaRPr lang="en-US" sz="1500" dirty="0"/>
          </a:p>
        </p:txBody>
      </p:sp>
      <p:pic>
        <p:nvPicPr>
          <p:cNvPr id="7" name="Image 1" descr="line"/>
          <p:cNvPicPr>
            <a:picLocks noChangeAspect="1"/>
          </p:cNvPicPr>
          <p:nvPr/>
        </p:nvPicPr>
        <p:blipFill>
          <a:blip r:embed="rId3"/>
          <a:srcRect l="-12500" r="-12500"/>
          <a:stretch/>
        </p:blipFill>
        <p:spPr>
          <a:xfrm>
            <a:off x="812800" y="3790640"/>
            <a:ext cx="4800600" cy="10160"/>
          </a:xfrm>
          <a:prstGeom prst="rect">
            <a:avLst/>
          </a:prstGeom>
        </p:spPr>
      </p:pic>
      <p:sp>
        <p:nvSpPr>
          <p:cNvPr id="8" name="Text 4"/>
          <p:cNvSpPr/>
          <p:nvPr/>
        </p:nvSpPr>
        <p:spPr>
          <a:xfrm>
            <a:off x="812800" y="3927797"/>
            <a:ext cx="494461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BCD3DA"/>
                </a:solidFill>
                <a:latin typeface="IBM Plex Sans" pitchFamily="34" charset="0"/>
                <a:ea typeface="IBM Plex Sans" pitchFamily="34" charset="-122"/>
                <a:cs typeface="IBM Plex Sans" pitchFamily="34" charset="-120"/>
              </a:rPr>
              <a:t>Comprobar si la caída de la mortalidad entre cohortes se explica por el tiempo de rescate.</a:t>
            </a:r>
            <a:endParaRPr lang="en-US" sz="1500" dirty="0"/>
          </a:p>
        </p:txBody>
      </p:sp>
      <p:sp>
        <p:nvSpPr>
          <p:cNvPr id="9" name="Shape 5"/>
          <p:cNvSpPr/>
          <p:nvPr/>
        </p:nvSpPr>
        <p:spPr>
          <a:xfrm>
            <a:off x="6019800" y="1612590"/>
            <a:ext cx="5359400" cy="3456940"/>
          </a:xfrm>
          <a:prstGeom prst="rect">
            <a:avLst/>
          </a:prstGeom>
          <a:solidFill>
            <a:srgbClr val="12303F"/>
          </a:solidFill>
          <a:ln/>
        </p:spPr>
        <p:txBody>
          <a:bodyPr/>
          <a:lstStyle/>
          <a:p>
            <a:endParaRPr lang="pt-PT"/>
          </a:p>
        </p:txBody>
      </p:sp>
      <p:sp>
        <p:nvSpPr>
          <p:cNvPr id="10" name="Text 6"/>
          <p:cNvSpPr/>
          <p:nvPr/>
        </p:nvSpPr>
        <p:spPr>
          <a:xfrm>
            <a:off x="6299200" y="1891990"/>
            <a:ext cx="4944618" cy="25654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8FBAC6"/>
                </a:solidFill>
                <a:latin typeface="Oswald" pitchFamily="34" charset="0"/>
                <a:ea typeface="Oswald" pitchFamily="34" charset="-122"/>
                <a:cs typeface="Oswald" pitchFamily="34" charset="-120"/>
              </a:rPr>
              <a:t>CÓMO REPLICARLO</a:t>
            </a:r>
            <a:endParaRPr lang="en-US" sz="1300" dirty="0"/>
          </a:p>
        </p:txBody>
      </p:sp>
      <p:sp>
        <p:nvSpPr>
          <p:cNvPr id="11" name="Text 7"/>
          <p:cNvSpPr/>
          <p:nvPr/>
        </p:nvSpPr>
        <p:spPr>
          <a:xfrm>
            <a:off x="6299200" y="2237420"/>
            <a:ext cx="4944618" cy="577850"/>
          </a:xfrm>
          <a:prstGeom prst="rect">
            <a:avLst/>
          </a:prstGeom>
          <a:noFill/>
          <a:ln/>
        </p:spPr>
        <p:txBody>
          <a:bodyPr wrap="square" lIns="0" tIns="0" rIns="0" bIns="0" rtlCol="0" anchor="t">
            <a:normAutofit/>
          </a:bodyPr>
          <a:lstStyle/>
          <a:p>
            <a:pPr marL="0" indent="0" algn="l">
              <a:lnSpc>
                <a:spcPts val="2175"/>
              </a:lnSpc>
              <a:buNone/>
            </a:pPr>
            <a:r>
              <a:rPr lang="en-US" sz="1450" b="1" dirty="0">
                <a:solidFill>
                  <a:srgbClr val="F2EEE3"/>
                </a:solidFill>
                <a:latin typeface="IBM Plex Sans" pitchFamily="34" charset="0"/>
                <a:ea typeface="IBM Plex Sans" pitchFamily="34" charset="-122"/>
                <a:cs typeface="IBM Plex Sans" pitchFamily="34" charset="-120"/>
              </a:rPr>
              <a:t>Repositorio</a:t>
            </a:r>
            <a:endParaRPr lang="en-US" sz="1450" dirty="0"/>
          </a:p>
          <a:p>
            <a:pPr marL="0" indent="0" algn="l">
              <a:lnSpc>
                <a:spcPts val="2175"/>
              </a:lnSpc>
              <a:buNone/>
            </a:pPr>
            <a:r>
              <a:rPr lang="en-US" sz="1450" dirty="0">
                <a:solidFill>
                  <a:srgbClr val="F2EEE3"/>
                </a:solidFill>
                <a:latin typeface="IBM Plex Sans" pitchFamily="34" charset="0"/>
                <a:ea typeface="IBM Plex Sans" pitchFamily="34" charset="-122"/>
                <a:cs typeface="IBM Plex Sans" pitchFamily="34" charset="-120"/>
              </a:rPr>
              <a:t>github.com/[__]/data-cleaning-pandas</a:t>
            </a:r>
            <a:endParaRPr lang="en-US" sz="1450" dirty="0"/>
          </a:p>
        </p:txBody>
      </p:sp>
      <p:sp>
        <p:nvSpPr>
          <p:cNvPr id="12" name="Text 8"/>
          <p:cNvSpPr/>
          <p:nvPr/>
        </p:nvSpPr>
        <p:spPr>
          <a:xfrm>
            <a:off x="6299200" y="2904170"/>
            <a:ext cx="4944618" cy="577850"/>
          </a:xfrm>
          <a:prstGeom prst="rect">
            <a:avLst/>
          </a:prstGeom>
          <a:noFill/>
          <a:ln/>
        </p:spPr>
        <p:txBody>
          <a:bodyPr wrap="square" lIns="0" tIns="0" rIns="0" bIns="0" rtlCol="0" anchor="t">
            <a:normAutofit/>
          </a:bodyPr>
          <a:lstStyle/>
          <a:p>
            <a:pPr marL="0" indent="0" algn="l">
              <a:lnSpc>
                <a:spcPts val="2175"/>
              </a:lnSpc>
              <a:buNone/>
            </a:pPr>
            <a:r>
              <a:rPr lang="en-US" sz="1450" b="1" dirty="0">
                <a:solidFill>
                  <a:srgbClr val="F2EEE3"/>
                </a:solidFill>
                <a:latin typeface="IBM Plex Sans" pitchFamily="34" charset="0"/>
                <a:ea typeface="IBM Plex Sans" pitchFamily="34" charset="-122"/>
                <a:cs typeface="IBM Plex Sans" pitchFamily="34" charset="-120"/>
              </a:rPr>
              <a:t>Notebook</a:t>
            </a:r>
            <a:endParaRPr lang="en-US" sz="1450" dirty="0"/>
          </a:p>
          <a:p>
            <a:pPr marL="0" indent="0" algn="l">
              <a:lnSpc>
                <a:spcPts val="2175"/>
              </a:lnSpc>
              <a:buNone/>
            </a:pPr>
            <a:r>
              <a:rPr lang="en-US" sz="1450" dirty="0">
                <a:solidFill>
                  <a:srgbClr val="F2EEE3"/>
                </a:solidFill>
                <a:latin typeface="IBM Plex Sans" pitchFamily="34" charset="0"/>
                <a:ea typeface="IBM Plex Sans" pitchFamily="34" charset="-122"/>
                <a:cs typeface="IBM Plex Sans" pitchFamily="34" charset="-120"/>
              </a:rPr>
              <a:t>Cleaning_Shark.ipynb, de la carga a los gráficos</a:t>
            </a:r>
            <a:endParaRPr lang="en-US" sz="1450" dirty="0"/>
          </a:p>
        </p:txBody>
      </p:sp>
      <p:sp>
        <p:nvSpPr>
          <p:cNvPr id="13" name="Text 9"/>
          <p:cNvSpPr/>
          <p:nvPr/>
        </p:nvSpPr>
        <p:spPr>
          <a:xfrm>
            <a:off x="6299200" y="3570920"/>
            <a:ext cx="4944618" cy="577850"/>
          </a:xfrm>
          <a:prstGeom prst="rect">
            <a:avLst/>
          </a:prstGeom>
          <a:noFill/>
          <a:ln/>
        </p:spPr>
        <p:txBody>
          <a:bodyPr wrap="square" lIns="0" tIns="0" rIns="0" bIns="0" rtlCol="0" anchor="t">
            <a:normAutofit/>
          </a:bodyPr>
          <a:lstStyle/>
          <a:p>
            <a:pPr marL="0" indent="0" algn="l">
              <a:lnSpc>
                <a:spcPts val="2175"/>
              </a:lnSpc>
              <a:buNone/>
            </a:pPr>
            <a:r>
              <a:rPr lang="en-US" sz="1450" b="1" dirty="0">
                <a:solidFill>
                  <a:srgbClr val="F2EEE3"/>
                </a:solidFill>
                <a:latin typeface="IBM Plex Sans" pitchFamily="34" charset="0"/>
                <a:ea typeface="IBM Plex Sans" pitchFamily="34" charset="-122"/>
                <a:cs typeface="IBM Plex Sans" pitchFamily="34" charset="-120"/>
              </a:rPr>
              <a:t>Módulo</a:t>
            </a:r>
            <a:endParaRPr lang="en-US" sz="1450" dirty="0"/>
          </a:p>
          <a:p>
            <a:pPr marL="0" indent="0" algn="l">
              <a:lnSpc>
                <a:spcPts val="2175"/>
              </a:lnSpc>
              <a:buNone/>
            </a:pPr>
            <a:r>
              <a:rPr lang="en-US" sz="1450" dirty="0">
                <a:solidFill>
                  <a:srgbClr val="F2EEE3"/>
                </a:solidFill>
                <a:latin typeface="IBM Plex Sans" pitchFamily="34" charset="0"/>
                <a:ea typeface="IBM Plex Sans" pitchFamily="34" charset="-122"/>
                <a:cs typeface="IBM Plex Sans" pitchFamily="34" charset="-120"/>
              </a:rPr>
              <a:t>cleaning.py, una función por columna y clean_data()</a:t>
            </a:r>
            <a:endParaRPr lang="en-US" sz="1450" dirty="0"/>
          </a:p>
        </p:txBody>
      </p:sp>
      <p:sp>
        <p:nvSpPr>
          <p:cNvPr id="14" name="Text 10"/>
          <p:cNvSpPr/>
          <p:nvPr/>
        </p:nvSpPr>
        <p:spPr>
          <a:xfrm>
            <a:off x="6299200" y="4237670"/>
            <a:ext cx="4944618" cy="577850"/>
          </a:xfrm>
          <a:prstGeom prst="rect">
            <a:avLst/>
          </a:prstGeom>
          <a:noFill/>
          <a:ln/>
        </p:spPr>
        <p:txBody>
          <a:bodyPr wrap="square" lIns="0" tIns="0" rIns="0" bIns="0" rtlCol="0" anchor="t">
            <a:normAutofit/>
          </a:bodyPr>
          <a:lstStyle/>
          <a:p>
            <a:pPr marL="0" indent="0" algn="l">
              <a:lnSpc>
                <a:spcPts val="2175"/>
              </a:lnSpc>
              <a:buNone/>
            </a:pPr>
            <a:r>
              <a:rPr lang="en-US" sz="1450" b="1" dirty="0">
                <a:solidFill>
                  <a:srgbClr val="F2EEE3"/>
                </a:solidFill>
                <a:latin typeface="IBM Plex Sans" pitchFamily="34" charset="0"/>
                <a:ea typeface="IBM Plex Sans" pitchFamily="34" charset="-122"/>
                <a:cs typeface="IBM Plex Sans" pitchFamily="34" charset="-120"/>
              </a:rPr>
              <a:t>Datos</a:t>
            </a:r>
            <a:endParaRPr lang="en-US" sz="1450" dirty="0"/>
          </a:p>
          <a:p>
            <a:pPr marL="0" indent="0" algn="l">
              <a:lnSpc>
                <a:spcPts val="2175"/>
              </a:lnSpc>
              <a:buNone/>
            </a:pPr>
            <a:r>
              <a:rPr lang="en-US" sz="1450" dirty="0">
                <a:solidFill>
                  <a:srgbClr val="F2EEE3"/>
                </a:solidFill>
                <a:latin typeface="IBM Plex Sans" pitchFamily="34" charset="0"/>
                <a:ea typeface="IBM Plex Sans" pitchFamily="34" charset="-122"/>
                <a:cs typeface="IBM Plex Sans" pitchFamily="34" charset="-120"/>
              </a:rPr>
              <a:t>shark_attacks_limpio.csv, la tabla final</a:t>
            </a:r>
            <a:endParaRPr lang="en-US" sz="1450" dirty="0"/>
          </a:p>
        </p:txBody>
      </p:sp>
      <p:pic>
        <p:nvPicPr>
          <p:cNvPr id="15" name="Image 2" descr="line"/>
          <p:cNvPicPr>
            <a:picLocks noChangeAspect="1"/>
          </p:cNvPicPr>
          <p:nvPr/>
        </p:nvPicPr>
        <p:blipFill>
          <a:blip r:embed="rId4"/>
          <a:srcRect l="-2083" r="-2083"/>
          <a:stretch/>
        </p:blipFill>
        <p:spPr>
          <a:xfrm>
            <a:off x="812800" y="4972447"/>
            <a:ext cx="2667000" cy="30480"/>
          </a:xfrm>
          <a:prstGeom prst="rect">
            <a:avLst/>
          </a:prstGeom>
        </p:spPr>
      </p:pic>
      <p:sp>
        <p:nvSpPr>
          <p:cNvPr id="16" name="Text 11"/>
          <p:cNvSpPr/>
          <p:nvPr/>
        </p:nvSpPr>
        <p:spPr>
          <a:xfrm>
            <a:off x="812800" y="5307732"/>
            <a:ext cx="10203180" cy="559673"/>
          </a:xfrm>
          <a:prstGeom prst="rect">
            <a:avLst/>
          </a:prstGeom>
          <a:noFill/>
          <a:ln/>
        </p:spPr>
        <p:txBody>
          <a:bodyPr wrap="square" lIns="0" tIns="0" rIns="0" bIns="0" rtlCol="0" anchor="t">
            <a:normAutofit/>
          </a:bodyPr>
          <a:lstStyle/>
          <a:p>
            <a:pPr marL="0" indent="0" algn="l">
              <a:lnSpc>
                <a:spcPts val="2112"/>
              </a:lnSpc>
              <a:buNone/>
            </a:pPr>
            <a:r>
              <a:rPr lang="en-US" sz="1509" dirty="0">
                <a:solidFill>
                  <a:srgbClr val="F2EEE3"/>
                </a:solidFill>
                <a:latin typeface="IBM Plex Sans" pitchFamily="34" charset="0"/>
                <a:ea typeface="IBM Plex Sans" pitchFamily="34" charset="-122"/>
                <a:cs typeface="IBM Plex Sans" pitchFamily="34" charset="-120"/>
              </a:rPr>
              <a:t>Ejecutar el notebook de arriba abajo reproduce </a:t>
            </a:r>
            <a:r>
              <a:rPr lang="en-US" sz="1509" b="1" dirty="0">
                <a:solidFill>
                  <a:srgbClr val="F2EEE3"/>
                </a:solidFill>
                <a:latin typeface="IBM Plex Sans" pitchFamily="34" charset="0"/>
                <a:ea typeface="IBM Plex Sans" pitchFamily="34" charset="-122"/>
                <a:cs typeface="IBM Plex Sans" pitchFamily="34" charset="-120"/>
              </a:rPr>
              <a:t>todos</a:t>
            </a:r>
            <a:r>
              <a:rPr lang="en-US" sz="1509" dirty="0">
                <a:solidFill>
                  <a:srgbClr val="F2EEE3"/>
                </a:solidFill>
                <a:latin typeface="IBM Plex Sans" pitchFamily="34" charset="0"/>
                <a:ea typeface="IBM Plex Sans" pitchFamily="34" charset="-122"/>
                <a:cs typeface="IBM Plex Sans" pitchFamily="34" charset="-120"/>
              </a:rPr>
              <a:t> los números de esta presentación. Ninguno está escrito a mano en una diapositiva.</a:t>
            </a:r>
            <a:endParaRPr lang="en-US" sz="1509" dirty="0"/>
          </a:p>
        </p:txBody>
      </p:sp>
      <p:sp>
        <p:nvSpPr>
          <p:cNvPr id="17" name="Text 12"/>
          <p:cNvSpPr/>
          <p:nvPr/>
        </p:nvSpPr>
        <p:spPr>
          <a:xfrm>
            <a:off x="812800" y="6238242"/>
            <a:ext cx="51815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8F9B"/>
                </a:solidFill>
                <a:latin typeface="IBM Plex Sans" pitchFamily="34" charset="0"/>
                <a:ea typeface="IBM Plex Sans" pitchFamily="34" charset="-122"/>
                <a:cs typeface="IBM Plex Sans" pitchFamily="34" charset="-120"/>
              </a:rPr>
              <a:t>João Miguel Pais · Juan Carlos Del Mar Lostanau · Ironhack Data Analytics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2927</Words>
  <Application>Microsoft Office PowerPoint</Application>
  <PresentationFormat>Ecrã Panorâmico</PresentationFormat>
  <Paragraphs>280</Paragraphs>
  <Slides>14</Slides>
  <Notes>13</Notes>
  <HiddenSlides>0</HiddenSlides>
  <MMClips>0</MMClips>
  <ScaleCrop>false</ScaleCrop>
  <HeadingPairs>
    <vt:vector size="6" baseType="variant">
      <vt:variant>
        <vt:lpstr>Tipos de letra usados</vt:lpstr>
      </vt:variant>
      <vt:variant>
        <vt:i4>3</vt:i4>
      </vt:variant>
      <vt:variant>
        <vt:lpstr>Tema</vt:lpstr>
      </vt:variant>
      <vt:variant>
        <vt:i4>1</vt:i4>
      </vt:variant>
      <vt:variant>
        <vt:lpstr>Títulos dos diapositivos</vt:lpstr>
      </vt:variant>
      <vt:variant>
        <vt:i4>14</vt:i4>
      </vt:variant>
    </vt:vector>
  </HeadingPairs>
  <TitlesOfParts>
    <vt:vector size="18" baseType="lpstr">
      <vt:lpstr>Arial</vt:lpstr>
      <vt:lpstr>IBM Plex Sans</vt:lpstr>
      <vt:lpstr>Oswald</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Escuela de surf segura</dc:title>
  <dc:subject>PptxGenJS Presentation</dc:subject>
  <dc:creator>PptxGenJS</dc:creator>
  <cp:lastModifiedBy>João Miguel Pais</cp:lastModifiedBy>
  <cp:revision>12</cp:revision>
  <dcterms:created xsi:type="dcterms:W3CDTF">2026-09-25T12:34:21Z</dcterms:created>
  <dcterms:modified xsi:type="dcterms:W3CDTF">2026-09-25T14:27:05Z</dcterms:modified>
</cp:coreProperties>
</file>